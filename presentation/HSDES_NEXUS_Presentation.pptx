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ram, Balaji" userId="ef3de614-10a3-4ba9-80dc-e89bcc86f5f4" providerId="ADAL" clId="{7C535360-BD65-42DA-BD95-1E44F351206F}"/>
    <pc:docChg chg="undo custSel modSld">
      <pc:chgData name="Rajaram, Balaji" userId="ef3de614-10a3-4ba9-80dc-e89bcc86f5f4" providerId="ADAL" clId="{7C535360-BD65-42DA-BD95-1E44F351206F}" dt="2026-09-02T06:31:51" v="1" actId="1076"/>
      <pc:docMkLst>
        <pc:docMk/>
      </pc:docMkLst>
      <pc:sldChg chg="modSp mod">
        <pc:chgData name="Rajaram, Balaji" userId="ef3de614-10a3-4ba9-80dc-e89bcc86f5f4" providerId="ADAL" clId="{7C535360-BD65-42DA-BD95-1E44F351206F}" dt="2026-09-02T06:31:51" v="1" actId="1076"/>
        <pc:sldMkLst>
          <pc:docMk/>
          <pc:sldMk cId="0" sldId="261"/>
        </pc:sldMkLst>
        <pc:spChg chg="mod">
          <ac:chgData name="Rajaram, Balaji" userId="ef3de614-10a3-4ba9-80dc-e89bcc86f5f4" providerId="ADAL" clId="{7C535360-BD65-42DA-BD95-1E44F351206F}" dt="2026-09-02T06:31:51" v="1" actId="1076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dirty="0"/>
              <a:t>HSDES NEXUS</a:t>
            </a:r>
          </a:p>
          <a:p>
            <a:pPr>
              <a:defRPr sz="2400">
                <a:solidFill>
                  <a:srgbClr val="8EC5F0"/>
                </a:solidFill>
              </a:defRPr>
            </a:pPr>
            <a:r>
              <a:rPr dirty="0"/>
              <a:t>Agentic HSD Triage  +  </a:t>
            </a:r>
            <a:r>
              <a:rPr dirty="0" err="1"/>
              <a:t>PythonSV</a:t>
            </a:r>
            <a:r>
              <a:rPr dirty="0"/>
              <a:t> Live Debug over the Lab NUC</a:t>
            </a:r>
          </a:p>
          <a:p>
            <a:pPr>
              <a:defRPr sz="1600">
                <a:solidFill>
                  <a:srgbClr val="B8C0CE"/>
                </a:solidFill>
              </a:defRPr>
            </a:pPr>
            <a:r>
              <a:rPr dirty="0"/>
              <a:t>Evolution of </a:t>
            </a:r>
            <a:r>
              <a:rPr dirty="0" err="1"/>
              <a:t>BugScout</a:t>
            </a:r>
            <a:r>
              <a:rPr dirty="0"/>
              <a:t> — one </a:t>
            </a:r>
            <a:r>
              <a:rPr dirty="0" err="1"/>
              <a:t>FastAPI</a:t>
            </a:r>
            <a:r>
              <a:rPr dirty="0"/>
              <a:t> tool for server-platform debug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is HSDES NEXUS?</a:t>
            </a:r>
          </a:p>
          <a:p>
            <a:pPr>
              <a:defRPr sz="1400">
                <a:solidFill>
                  <a:srgbClr val="DCEBFA"/>
                </a:solidFill>
              </a:defRPr>
            </a:pPr>
            <a:r>
              <a:t>Agentic, evidence-grounded triage for any Intel server-platform HSD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B1B2F"/>
                </a:solidFill>
              </a:defRPr>
            </a:pPr>
            <a:r>
              <a:t>Give it an HSD ID — it reads the ticket + comments, decodes attached logs, recalls similar past cases, and writes a structured Root-Cause-Analysis report.</a:t>
            </a:r>
          </a:p>
          <a:p>
            <a:pPr>
              <a:spcAft>
                <a:spcPts val="600"/>
              </a:spcAft>
              <a:defRPr sz="1900">
                <a:solidFill>
                  <a:srgbClr val="1B1B2F"/>
                </a:solidFill>
              </a:defRPr>
            </a:pPr>
            <a:r>
              <a:t>Self-learning Knowledge Base: every ticket seen is written back, so matching improves over time.</a:t>
            </a:r>
          </a:p>
          <a:p>
            <a:pPr>
              <a:spcAft>
                <a:spcPts val="600"/>
              </a:spcAft>
              <a:defRPr sz="1900">
                <a:solidFill>
                  <a:srgbClr val="1B1B2F"/>
                </a:solidFill>
              </a:defRPr>
            </a:pPr>
            <a:r>
              <a:t>Deterministic OFFLINE mode (no LLM required) using bundled Intel decoder databases.</a:t>
            </a:r>
          </a:p>
          <a:p>
            <a:pPr>
              <a:spcAft>
                <a:spcPts val="600"/>
              </a:spcAft>
              <a:defRPr sz="1900">
                <a:solidFill>
                  <a:srgbClr val="1B1B2F"/>
                </a:solidFill>
              </a:defRPr>
            </a:pPr>
            <a:r>
              <a:t>Grounded in many sources at once: HSDES REST + Geni + Co-Design + Wiki KB + decoders + Axon.</a:t>
            </a:r>
          </a:p>
          <a:p>
            <a:pPr>
              <a:spcAft>
                <a:spcPts val="600"/>
              </a:spcAft>
              <a:defRPr sz="1900">
                <a:solidFill>
                  <a:srgbClr val="1B1B2F"/>
                </a:solidFill>
              </a:defRPr>
            </a:pPr>
            <a:r>
              <a:t>NEW headline capability: PythonSV Live Debug through the bench NUC — reach a hung / unreachable SUT out-of-band.</a:t>
            </a:r>
          </a:p>
          <a:p>
            <a:pPr>
              <a:spcAft>
                <a:spcPts val="600"/>
              </a:spcAft>
              <a:defRPr sz="1900">
                <a:solidFill>
                  <a:srgbClr val="1B1B2F"/>
                </a:solidFill>
              </a:defRPr>
            </a:pPr>
            <a:r>
              <a:t>Web UI (tabs) + unified CLI; reports saved as Markdown + HTML with a Reference Sources citation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How it works — end-to-end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2057400" cy="566928"/>
          </a:xfrm>
          <a:prstGeom prst="roundRect">
            <a:avLst/>
          </a:prstGeom>
          <a:solidFill>
            <a:srgbClr val="0071C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 · Web UI / CLI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234440"/>
            <a:ext cx="2057400" cy="566928"/>
          </a:xfrm>
          <a:prstGeom prst="roundRect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RECALL · KB search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1517904"/>
            <a:ext cx="137160" cy="0"/>
          </a:xfrm>
          <a:prstGeom prst="bentConnector3">
            <a:avLst/>
          </a:prstGeom>
          <a:ln w="25400">
            <a:solidFill>
              <a:srgbClr val="5A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846320" y="1234440"/>
            <a:ext cx="2057400" cy="566928"/>
          </a:xfrm>
          <a:prstGeom prst="roundRect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INVESTIGATE · HSD + comments + logs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09160" y="1517904"/>
            <a:ext cx="137160" cy="0"/>
          </a:xfrm>
          <a:prstGeom prst="bentConnector3">
            <a:avLst/>
          </a:prstGeom>
          <a:ln w="25400">
            <a:solidFill>
              <a:srgbClr val="5A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40880" y="1234440"/>
            <a:ext cx="2057400" cy="566928"/>
          </a:xfrm>
          <a:prstGeom prst="roundRect">
            <a:avLst/>
          </a:prstGeom>
          <a:solidFill>
            <a:srgbClr val="B07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DECODE · MCA/EWL/POST + Enrichment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03720" y="1517904"/>
            <a:ext cx="137160" cy="0"/>
          </a:xfrm>
          <a:prstGeom prst="bentConnector3">
            <a:avLst/>
          </a:prstGeom>
          <a:ln w="25400">
            <a:solidFill>
              <a:srgbClr val="5A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235440" y="1234440"/>
            <a:ext cx="2057400" cy="566928"/>
          </a:xfrm>
          <a:prstGeom prst="roundRect">
            <a:avLst/>
          </a:prstGeom>
          <a:solidFill>
            <a:srgbClr val="0071C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REPORT · RCA + Reference Sources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1517904"/>
            <a:ext cx="137160" cy="0"/>
          </a:xfrm>
          <a:prstGeom prst="bentConnector3">
            <a:avLst/>
          </a:prstGeom>
          <a:ln w="25400">
            <a:solidFill>
              <a:srgbClr val="5A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286000"/>
            <a:ext cx="2743200" cy="502920"/>
          </a:xfrm>
          <a:prstGeom prst="roundRect">
            <a:avLst/>
          </a:prstGeom>
          <a:solidFill>
            <a:srgbClr val="5A63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Decoders: MCA / EWL / RC-Fatal / MCHECK / POST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286000"/>
            <a:ext cx="2743200" cy="502920"/>
          </a:xfrm>
          <a:prstGeom prst="roundRect">
            <a:avLst/>
          </a:prstGeom>
          <a:solidFill>
            <a:srgbClr val="5A63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Wiki KB · Geni · Co-Design (always)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2743200" cy="502920"/>
          </a:xfrm>
          <a:prstGeom prst="roundRect">
            <a:avLst/>
          </a:prstGeom>
          <a:solidFill>
            <a:srgbClr val="5A63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BIOS/S3M · Kernel-crash · Redfish (need-based)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286000"/>
            <a:ext cx="2377440" cy="502920"/>
          </a:xfrm>
          <a:prstGeom prst="roundRect">
            <a:avLst/>
          </a:prstGeom>
          <a:solidFill>
            <a:srgbClr val="5A63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Axon SVTools recordings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1B2F"/>
                </a:solidFill>
              </a:defRPr>
            </a:pPr>
            <a:r>
              <a:t>PythonSV Live-Debug path (SUT hung / unreachable):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2651760" cy="640080"/>
          </a:xfrm>
          <a:prstGeom prst="roundRect">
            <a:avLst/>
          </a:prstGeom>
          <a:solidFill>
            <a:srgbClr val="0071C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NEXUS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749039"/>
            <a:ext cx="2651760" cy="640080"/>
          </a:xfrm>
          <a:prstGeom prst="roundRect">
            <a:avLst/>
          </a:prstGeom>
          <a:solidFill>
            <a:srgbClr val="B07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SSH :22  (WinRM :5985 fallback)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4069079"/>
            <a:ext cx="137160" cy="0"/>
          </a:xfrm>
          <a:prstGeom prst="bentConnector3">
            <a:avLst/>
          </a:prstGeom>
          <a:ln w="25400">
            <a:solidFill>
              <a:srgbClr val="5A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0" y="3749039"/>
            <a:ext cx="2651760" cy="640080"/>
          </a:xfrm>
          <a:prstGeom prst="roundRect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Lab NUC · Windows + PythonSV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97880" y="4069079"/>
            <a:ext cx="137160" cy="0"/>
          </a:xfrm>
          <a:prstGeom prst="bentConnector3">
            <a:avLst/>
          </a:prstGeom>
          <a:ln w="25400">
            <a:solidFill>
              <a:srgbClr val="5A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23960" y="3749039"/>
            <a:ext cx="2651760" cy="640080"/>
          </a:xfrm>
          <a:prstGeom prst="roundRect">
            <a:avLst/>
          </a:prstGeom>
          <a:solidFill>
            <a:srgbClr val="1B1B2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ITP / sideband -&gt; hung SUT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4069079"/>
            <a:ext cx="137160" cy="0"/>
          </a:xfrm>
          <a:prstGeom prst="bentConnector3">
            <a:avLst/>
          </a:prstGeom>
          <a:ln w="25400">
            <a:solidFill>
              <a:srgbClr val="5A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466344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</a:defRPr>
            </a:pPr>
            <a:r>
              <a:t>One persistent PythonSV session — imports &amp; IPC state persist across lines.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</a:defRPr>
            </a:pPr>
            <a:r>
              <a:t>Auto-init preamble (ipc.unlock() + sv.refresh()) runs first; output is cleaned; state is auto-interpreted into plain-English notes.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</a:defRPr>
            </a:pPr>
            <a:r>
              <a:t>Password entered in UI only — masked, never stored or logged.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New in HSDES NEXUS vs. original BugScout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4300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Original BugScout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New in HSDES NEXUS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Packaging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Copilot CLI skills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Single FastAPI web app + unified CLI (skills retained)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Log decode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crash-parser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MCA / EWL / RC-Fatal / MCHECK / POST decoder DBs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Sources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Reference Sources table — cites every source used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Wiki KB (always) + BIOS/S3M, Kernel-crash, Redfish (need-based)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Live debug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SSH to SUT only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NUC </a:t>
                      </a:r>
                      <a:r>
                        <a:rPr dirty="0" err="1"/>
                        <a:t>PythonSV</a:t>
                      </a:r>
                      <a:r>
                        <a:rPr dirty="0"/>
                        <a:t> bridge — out-of-band when SUT is hung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SSH-first + </a:t>
                      </a:r>
                      <a:r>
                        <a:rPr dirty="0" err="1"/>
                        <a:t>WinRM</a:t>
                      </a:r>
                      <a:r>
                        <a:rPr dirty="0"/>
                        <a:t> fallback + setup popup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Secrets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SSH keys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UI password, masked, never stored; user auto-normalized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one 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Persistent </a:t>
                      </a:r>
                      <a:r>
                        <a:rPr dirty="0" err="1"/>
                        <a:t>PythonSV</a:t>
                      </a:r>
                      <a:r>
                        <a:rPr dirty="0"/>
                        <a:t> session (imports/IPC persist)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Auto-fix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Auto-</a:t>
                      </a:r>
                      <a:r>
                        <a:rPr dirty="0" err="1"/>
                        <a:t>init</a:t>
                      </a:r>
                      <a:r>
                        <a:rPr dirty="0"/>
                        <a:t> unlock + refresh; skippable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Readability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raw dump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Output cleaner + state interpreter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B1B2F"/>
                          </a:solidFill>
                        </a:defRPr>
                      </a:pPr>
                      <a:r>
                        <a:rPr dirty="0"/>
                        <a:t>Unified smoke test (15 checks)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Feature spotlight — PythonSV Live Debug via NUC</a:t>
            </a:r>
          </a:p>
          <a:p>
            <a:pPr>
              <a:defRPr sz="1400">
                <a:solidFill>
                  <a:srgbClr val="DCEBFA"/>
                </a:solidFill>
              </a:defRPr>
            </a:pPr>
            <a:r>
              <a:t>Debug a hung node when SSH to the SUT is impossible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</a:defRPr>
            </a:pPr>
            <a:r>
              <a:t>Problem: when the SUT is hung/failed, you cannot SSH in to run live debug.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</a:defRPr>
            </a:pPr>
            <a:r>
              <a:t>Solution: connect to the bench NUC (Windows + PythonSV) that keeps ITP/sideband access to the SUT.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</a:defRPr>
            </a:pPr>
            <a:r>
              <a:t>Dual transport: tries SSH first, falls back to WinRM; if neither is ready, a popup shows the one-time WinRM setup.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</a:defRPr>
            </a:pPr>
            <a:r>
              <a:t>Dedicated PythonSV tab: enter NUC host/user/password (masked), Connect / Probe verifies host + C:\pythonsv.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</a:defRPr>
            </a:pPr>
            <a:r>
              <a:t>Runs your commands in ONE persistent session so `sv`, `ipc`, and imports stay alive across lines.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</a:defRPr>
            </a:pPr>
            <a:r>
              <a:t>Auto-detects &amp; explains PythonSV states:</a:t>
            </a:r>
          </a:p>
          <a:p>
            <a:pPr lvl="1">
              <a:spcAft>
                <a:spcPts val="600"/>
              </a:spcAft>
              <a:defRPr sz="1400">
                <a:solidFill>
                  <a:srgbClr val="1B1B2F"/>
                </a:solidFill>
              </a:defRPr>
            </a:pPr>
            <a:r>
              <a:t>part LOCKED -&gt; auto ipc.unlock(); NOT out of reset; pcode bring-up not started; undefined helper; missing module; SUT no-ping.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</a:defRPr>
            </a:pPr>
            <a:r>
              <a:t>Output is cleaned (EOL banner, version table, per-IP init noise removed) and annotated with readable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Security, and 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rPr dirty="0"/>
              <a:t>Secrets: NUC password used only for the connection — masked in all output, never written to disk or logs.</a:t>
            </a:r>
          </a:p>
          <a:p>
            <a:pPr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rPr dirty="0"/>
              <a:t>Enrichment sources are OFF unless configured; failures are skipped and never block core analysis.</a:t>
            </a:r>
          </a:p>
          <a:p>
            <a:pPr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rPr dirty="0"/>
              <a:t>Kerberos SSO to HSDES (no token/password) for on-domain users.</a:t>
            </a:r>
          </a:p>
          <a:p>
            <a:pPr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rPr dirty="0"/>
              <a:t>Validated live: SSH connect + persistent session confirmed against a real 2S GNR NUC; part unlocked, 37 IPs enumerated.</a:t>
            </a:r>
          </a:p>
          <a:p>
            <a:pPr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rPr dirty="0"/>
              <a:t>Unified smoke test: 15 / 15 passing.</a:t>
            </a:r>
          </a:p>
          <a:p>
            <a:pPr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rPr dirty="0"/>
              <a:t>Published to intel-sandbox/</a:t>
            </a:r>
            <a:r>
              <a:rPr dirty="0" err="1"/>
              <a:t>BugScout</a:t>
            </a:r>
            <a:r>
              <a:rPr dirty="0"/>
              <a:t> (PR) and mirrored to the personal repo.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Status: demo-ready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753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Rajaram, Balaji</cp:lastModifiedBy>
  <cp:revision>1</cp:revision>
  <dcterms:created xsi:type="dcterms:W3CDTF">2013-01-27T09:14:16Z</dcterms:created>
  <dcterms:modified xsi:type="dcterms:W3CDTF">2026-09-02T06:32:10Z</dcterms:modified>
  <cp:category/>
</cp:coreProperties>
</file>