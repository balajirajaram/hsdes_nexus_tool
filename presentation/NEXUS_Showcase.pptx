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NEXUS: AI-Assisted Root-Cause Analysis for Xeon Server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63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C9D6EA"/>
                </a:solidFill>
              </a:defRPr>
            </a:pPr>
            <a:r>
              <a:t>From HSD to actionable RCA —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80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9D6EA"/>
                </a:solidFill>
              </a:defRPr>
            </a:pPr>
            <a:r>
              <a:t>Intel Confidential  |  2026-09-11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Scale creates a consistency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60320" cy="137160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HSDs across validation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71C5"/>
                </a:solidFill>
              </a:defRPr>
            </a:pPr>
            <a:r>
              <a:t>8,800+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60320" cy="1371600"/>
          </a:xfrm>
          <a:prstGeom prst="roundRect">
            <a:avLst/>
          </a:prstGeom>
          <a:solidFill>
            <a:srgbClr val="FFF3DC"/>
          </a:solidFill>
          <a:ln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EFFORT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Typical initial-triage 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B26A00"/>
                </a:solidFill>
              </a:defRPr>
            </a:pPr>
            <a:r>
              <a:t>2–4 hrs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60320" cy="1371600"/>
          </a:xfrm>
          <a:prstGeom prst="roundRect">
            <a:avLst/>
          </a:prstGeom>
          <a:solidFill>
            <a:srgbClr val="E6F3F1"/>
          </a:solidFill>
          <a:ln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57D"/>
                </a:solidFill>
              </a:defRPr>
            </a:pPr>
            <a:r>
              <a:t>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Machine facts, comments, 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857D"/>
                </a:solidFill>
              </a:defRPr>
            </a:pPr>
            <a:r>
              <a:t>Many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54480"/>
            <a:ext cx="2560320" cy="137160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A consistent evidence-to-action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E7D32"/>
                </a:solidFill>
              </a:defRPr>
            </a:pPr>
            <a:r>
              <a:t>Repeatable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404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64F"/>
                </a:solidFill>
              </a:defRPr>
            </a:pPr>
            <a:r>
              <a:t>Known signatures are repeatedly re-investigated across teams.</a:t>
            </a:r>
          </a:p>
          <a:p>
            <a:pPr>
              <a:spcAft>
                <a:spcPts val="1200"/>
              </a:spcAft>
              <a:defRPr sz="1800">
                <a:solidFill>
                  <a:srgbClr val="26364F"/>
                </a:solidFill>
              </a:defRPr>
            </a:pPr>
            <a:r>
              <a:t>The most valuable debug context often lives in comments, logs, and individual experience.</a:t>
            </a:r>
          </a:p>
          <a:p>
            <a:pPr>
              <a:spcAft>
                <a:spcPts val="1200"/>
              </a:spcAft>
              <a:defRPr sz="1800">
                <a:solidFill>
                  <a:srgbClr val="26364F"/>
                </a:solidFill>
              </a:defRPr>
            </a:pPr>
            <a:r>
              <a:t>Validation needs speed without trading away evidence discipline.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 NEXUS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One path from a ticket to an evidence-graded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6032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276148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HSD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0844" y="2816352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0572" y="256032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7148" y="276148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Read ticket</a:t>
            </a:r>
            <a:br/>
            <a:r>
              <a:t>&amp;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5" y="2816352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3" y="256032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276148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Decode hardware</a:t>
            </a:r>
            <a:br/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0467" y="2816352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56032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6772" y="276148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Separate fact</a:t>
            </a:r>
            <a:br/>
            <a:r>
              <a:t>from opinion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816352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56032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276148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Graded RCA</a:t>
            </a:r>
            <a:br/>
            <a: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0092" y="2816352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9820" y="256032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6396" y="276148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Update</a:t>
            </a:r>
            <a:br/>
            <a:r>
              <a:t>ticket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364F"/>
                </a:solidFill>
              </a:defRPr>
            </a:pPr>
            <a:r>
              <a:t>NEXUS reads the HSD, decodes machine evidence, isolates human claims, grades confidence and missing data, then returns a structured RCA and guarded ticket update.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Built-In Safety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Safety is a product capability, not a postscript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83280" cy="1828800"/>
          </a:xfrm>
          <a:prstGeom prst="roundRect">
            <a:avLst/>
          </a:prstGeom>
          <a:solidFill>
            <a:srgbClr val="E6F3F1"/>
          </a:solidFill>
          <a:ln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91639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57D"/>
                </a:solidFill>
              </a:defRPr>
            </a:pPr>
            <a:r>
              <a:t>Evidence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29967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Never confuses an engineer’s guess with proven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91639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Conflict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29967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Automatically flags conflicting ownership signals instead of guessing.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1828800"/>
          </a:xfrm>
          <a:prstGeom prst="roundRect">
            <a:avLst/>
          </a:prstGeom>
          <a:solidFill>
            <a:srgbClr val="FFF3DC"/>
          </a:solidFill>
          <a:ln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91639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Guarded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29967"/>
            <a:ext cx="305409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Refuses to auto-post weak or ambiguous conclusions.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82 automated safety and correctness checks continuously verify these behaviors.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AutoHSD: Closed-Loop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NEXUS knows what is missing and goes to get it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51760"/>
            <a:ext cx="2190902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2852928"/>
            <a:ext cx="211775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HSD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5806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5534" y="2651760"/>
            <a:ext cx="2190902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110" y="2852928"/>
            <a:ext cx="211775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Missing evidence</a:t>
            </a:r>
            <a:br/>
            <a:r>
              <a:t>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5580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5308" y="2651760"/>
            <a:ext cx="2190902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1884" y="2852928"/>
            <a:ext cx="211775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Safely collect</a:t>
            </a:r>
            <a:br/>
            <a:r>
              <a:t>additional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5355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5083" y="2651760"/>
            <a:ext cx="2190902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1659" y="2852928"/>
            <a:ext cx="211775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Re-analyze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5129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4857" y="2651760"/>
            <a:ext cx="2190902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1433" y="2852928"/>
            <a:ext cx="211775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Confirm or</a:t>
            </a:r>
            <a:br/>
            <a:r>
              <a:t>escalate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64F"/>
                </a:solidFill>
              </a:defRPr>
            </a:pPr>
            <a:r>
              <a:t>Existing attachments are used directly.</a:t>
            </a:r>
          </a:p>
          <a:p>
            <a:pPr>
              <a:spcAft>
                <a:spcPts val="1200"/>
              </a:spcAft>
              <a:defRPr sz="1700">
                <a:solidFill>
                  <a:srgbClr val="26364F"/>
                </a:solidFill>
              </a:defRPr>
            </a:pPr>
            <a:r>
              <a:t>When needed, read-only SSH/BMC collection gathers targeted evidence.</a:t>
            </a:r>
          </a:p>
          <a:p>
            <a:pPr>
              <a:spcAft>
                <a:spcPts val="1200"/>
              </a:spcAft>
              <a:defRPr sz="1700">
                <a:solidFill>
                  <a:srgbClr val="26364F"/>
                </a:solidFill>
              </a:defRPr>
            </a:pPr>
            <a:r>
              <a:t>Before/after analysis makes the effect of new evidence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Knowledge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NEXUS learns from Intel’s validated engineering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00400" cy="137160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39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HISTORICAL HSDs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2871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Mined and cross-referenced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71C5"/>
                </a:solidFill>
              </a:defRPr>
            </a:pPr>
            <a: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54480"/>
            <a:ext cx="3200400" cy="137160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91639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029967"/>
            <a:ext cx="2871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RCA relationships mapped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75104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71C5"/>
                </a:solidFill>
              </a:defRPr>
            </a:pPr>
            <a:r>
              <a:t>421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200400" cy="137160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91639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REFERENCE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29967"/>
            <a:ext cx="28712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Validated cases across 5 platform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975104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E7D32"/>
                </a:solidFill>
              </a:defRPr>
            </a:pPr>
            <a:r>
              <a:t>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364F"/>
                </a:solidFill>
              </a:defRPr>
            </a:pPr>
            <a:r>
              <a:t>Platform families represented: DMR, GNR, ICX, SPR, SRF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confirmed DMR fix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01168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39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Reported symptom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29967"/>
            <a:ext cx="30540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Frequent L1 instruction-fetch MCEs during branch-tree workload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83280" cy="2011680"/>
          </a:xfrm>
          <a:prstGeom prst="roundRect">
            <a:avLst/>
          </a:prstGeom>
          <a:solidFill>
            <a:srgbClr val="E6F3F1"/>
          </a:solidFill>
          <a:ln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691639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57D"/>
                </a:solidFill>
              </a:defRPr>
            </a:pPr>
            <a:r>
              <a:t>Owning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029967"/>
            <a:ext cx="30540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Core / FE / BPU — validated RTL Bugeco reference.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83280" cy="201168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91639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029967"/>
            <a:ext cx="30540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F"/>
                </a:solidFill>
              </a:defRPr>
            </a:pPr>
            <a:r>
              <a:t>Fixed in PNC C0; evidence tier: Level 4 fix validated.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B6B7F"/>
                </a:solidFill>
              </a:defRPr>
            </a:pPr>
            <a:r>
              <a:t>HSD 15019342741  |  Bugeco 13013348392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layered pipeline for evidence, ownership, and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5176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285292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Evidence</a:t>
            </a:r>
            <a:br/>
            <a:r>
              <a:t>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0844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0572" y="265176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7148" y="285292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Ownership</a:t>
            </a:r>
            <a:br/>
            <a: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5655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3" y="265176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285292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Decoder</a:t>
            </a:r>
            <a:br/>
            <a: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0467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65176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6772" y="285292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Confidence</a:t>
            </a:r>
            <a:br/>
            <a:r>
              <a:t>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65176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285292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Validation</a:t>
            </a:r>
            <a:br/>
            <a: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80092" y="2907791"/>
            <a:ext cx="100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1C5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89820" y="2651760"/>
            <a:ext cx="1805939" cy="82296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6396" y="2852928"/>
            <a:ext cx="173278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Report /</a:t>
            </a:r>
            <a:br/>
            <a:r>
              <a:t>HSD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364F"/>
                </a:solidFill>
              </a:defRPr>
            </a:pPr>
            <a:r>
              <a:t>Each layer preserves provenance and contributes only the evidence it is designed to handle.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Current Capability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Implemented capability, evidenced in the current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560320" cy="137160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Automated RCA safety and correctness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E7D32"/>
                </a:solidFill>
              </a:defRPr>
            </a:pPr>
            <a:r>
              <a:t>82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54480"/>
            <a:ext cx="2560320" cy="1371600"/>
          </a:xfrm>
          <a:prstGeom prst="roundRect">
            <a:avLst/>
          </a:prstGeom>
          <a:solidFill>
            <a:srgbClr val="E9F5E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PROVENANCE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Full source-decoder inventory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E7D32"/>
                </a:solidFill>
              </a:defRPr>
            </a:pPr>
            <a:r>
              <a:t>18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54480"/>
            <a:ext cx="2560320" cy="137160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CORPUS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Historically validated references across 5 families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71C5"/>
                </a:solidFill>
              </a:defRPr>
            </a:pPr>
            <a:r>
              <a:t>47 cases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54480"/>
            <a:ext cx="2560320" cy="1371600"/>
          </a:xfrm>
          <a:prstGeom prst="roundRect">
            <a:avLst/>
          </a:prstGeom>
          <a:solidFill>
            <a:srgbClr val="E6F3F1"/>
          </a:solidFill>
          <a:ln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2" y="1691639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57D"/>
                </a:solidFill>
              </a:defRPr>
            </a:pPr>
            <a:r>
              <a:t>AUTOHSD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029967"/>
            <a:ext cx="22311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6364F"/>
                </a:solidFill>
              </a:defRPr>
            </a:pPr>
            <a:r>
              <a:t>Closed-loop evidence collection implemented and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1975104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857D"/>
                </a:solidFill>
              </a:defRPr>
            </a:pPr>
            <a:r>
              <a:t>Guarded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Forward motion: expanding value from a strong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10</a:t>
            </a:r>
          </a:p>
        </p:txBody>
      </p:sp>
      <p:pic>
        <p:nvPicPr>
          <p:cNvPr id="6" name="Picture 5" descr="NEXUS_Showcase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65683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consistent debug method compounds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6364F"/>
                </a:solidFill>
              </a:defRPr>
            </a:pPr>
            <a:r>
              <a:t>Faster initial triage from a shared evidence vocabulary.</a:t>
            </a:r>
          </a:p>
          <a:p>
            <a:pPr>
              <a:spcAft>
                <a:spcPts val="1200"/>
              </a:spcAft>
              <a:defRPr sz="2100">
                <a:solidFill>
                  <a:srgbClr val="26364F"/>
                </a:solidFill>
              </a:defRPr>
            </a:pPr>
            <a:r>
              <a:t>More consistent ownership reasoning across teams and platform families.</a:t>
            </a:r>
          </a:p>
          <a:p>
            <a:pPr>
              <a:spcAft>
                <a:spcPts val="1200"/>
              </a:spcAft>
              <a:defRPr sz="2100">
                <a:solidFill>
                  <a:srgbClr val="26364F"/>
                </a:solidFill>
              </a:defRPr>
            </a:pPr>
            <a:r>
              <a:t>Institutional knowledge remains searchable, traceable, and reviewable.</a:t>
            </a:r>
          </a:p>
          <a:p>
            <a:pPr>
              <a:spcAft>
                <a:spcPts val="1200"/>
              </a:spcAft>
              <a:defRPr sz="2100">
                <a:solidFill>
                  <a:srgbClr val="26364F"/>
                </a:solidFill>
              </a:defRPr>
            </a:pPr>
            <a:r>
              <a:t>Engineers spend more time validating the next decision and less time reconstructing the last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What’s Needed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focused path to broader engineering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200400" cy="2011680"/>
          </a:xfrm>
          <a:prstGeom prst="roundRect">
            <a:avLst/>
          </a:prstGeom>
          <a:solidFill>
            <a:srgbClr val="E9F4FB"/>
          </a:solidFill>
          <a:ln>
            <a:solidFill>
              <a:srgbClr val="007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783080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1C5"/>
                </a:solidFill>
              </a:defRPr>
            </a:pPr>
            <a:r>
              <a:t>Pilot volunteers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28712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Run shadow-mode evaluations on representative HSDs.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2011680"/>
          </a:xfrm>
          <a:prstGeom prst="roundRect">
            <a:avLst/>
          </a:prstGeom>
          <a:solidFill>
            <a:srgbClr val="E6F3F1"/>
          </a:solidFill>
          <a:ln>
            <a:solidFill>
              <a:srgbClr val="008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83080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57D"/>
                </a:solidFill>
              </a:defRPr>
            </a:pPr>
            <a:r>
              <a:t>Domain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21408"/>
            <a:ext cx="28712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Review borderline ownership and evidence tiers.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200400" cy="2011680"/>
          </a:xfrm>
          <a:prstGeom prst="roundRect">
            <a:avLst/>
          </a:prstGeom>
          <a:solidFill>
            <a:srgbClr val="FFF3DC"/>
          </a:solidFill>
          <a:ln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83080"/>
            <a:ext cx="2871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26A00"/>
                </a:solidFill>
              </a:defRPr>
            </a:pPr>
            <a:r>
              <a:t>Deployment sponsors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21408"/>
            <a:ext cx="28712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F"/>
                </a:solidFill>
              </a:defRPr>
            </a:pPr>
            <a:r>
              <a:t>Support the next controlled operating environment.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Thank You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217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NEXUS turns HSD history and machine evidence into a guarded engineering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B7F"/>
                </a:solidFill>
              </a:defRPr>
            </a:pPr>
            <a:r>
              <a:t>Intel Confidential  |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Questions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6364F"/>
                </a:solidFill>
              </a:defRPr>
            </a:pPr>
            <a:r>
              <a:t>The next step is a measured, shadow-mode validation with the teams closest to the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