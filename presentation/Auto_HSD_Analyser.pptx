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2377440"/>
          </a:xfrm>
          <a:prstGeom prst="rect">
            <a:avLst/>
          </a:prstGeom>
          <a:noFill/>
        </p:spPr>
        <p:txBody>
          <a:bodyPr wrap="square">
            <a:spAutoFit/>
          </a:bodyPr>
          <a:lstStyle/>
          <a:p>
            <a:pPr>
              <a:defRPr sz="5200" b="1">
                <a:solidFill>
                  <a:srgbClr val="FFFFFF"/>
                </a:solidFill>
              </a:defRPr>
            </a:pPr>
            <a:r>
              <a:t>Auto HSD Analyser</a:t>
            </a:r>
          </a:p>
          <a:p>
            <a:pPr>
              <a:defRPr sz="2200">
                <a:solidFill>
                  <a:srgbClr val="9FC3E8"/>
                </a:solidFill>
              </a:defRPr>
            </a:pPr>
            <a:r>
              <a:t>Automated, engineer-grade HSD triage for Intel server platforms</a:t>
            </a:r>
          </a:p>
          <a:p>
            <a:pPr>
              <a:defRPr sz="1600">
                <a:solidFill>
                  <a:srgbClr val="C9D6EA"/>
                </a:solidFill>
              </a:defRPr>
            </a:pPr>
            <a:r>
              <a:t>Read · Decode · Correlate · Report · Learn</a:t>
            </a:r>
          </a:p>
          <a:p>
            <a:br/>
            <a:pPr>
              <a:defRPr sz="1400">
                <a:solidFill>
                  <a:srgbClr val="C9D6EA"/>
                </a:solidFill>
              </a:defRPr>
            </a:pPr>
            <a:r>
              <a:t>Presented by: ______________          Date: 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The Problem</a:t>
            </a:r>
          </a:p>
          <a:p>
            <a:pPr>
              <a:defRPr sz="1300">
                <a:solidFill>
                  <a:srgbClr val="C9D6EA"/>
                </a:solidFill>
              </a:defRPr>
            </a:pPr>
            <a:r>
              <a:t>HSD triage is slow, manual and inconsistent</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900">
                <a:solidFill>
                  <a:srgbClr val="1B2A4A"/>
                </a:solidFill>
              </a:defRPr>
            </a:pPr>
            <a:r>
              <a:t>Every HSD means reading the whole comment thread, opening SOL / PythonSV / POST logs, and decoding raw error codes by hand.</a:t>
            </a:r>
          </a:p>
          <a:p>
            <a:pPr>
              <a:spcAft>
                <a:spcPts val="700"/>
              </a:spcAft>
              <a:defRPr sz="1900">
                <a:solidFill>
                  <a:srgbClr val="1B2A4A"/>
                </a:solidFill>
              </a:defRPr>
            </a:pPr>
            <a:r>
              <a:t>Decisive evidence is buried — register values, repro steps, experiment matrices, the converged root cause.</a:t>
            </a:r>
          </a:p>
          <a:p>
            <a:pPr>
              <a:spcAft>
                <a:spcPts val="700"/>
              </a:spcAft>
              <a:defRPr sz="1900">
                <a:solidFill>
                  <a:srgbClr val="1B2A4A"/>
                </a:solidFill>
              </a:defRPr>
            </a:pPr>
            <a:r>
              <a:t>Verbose serial logs are full of incidental noise (WHEA / MCA / PCIe) that hides the real failure.</a:t>
            </a:r>
          </a:p>
          <a:p>
            <a:pPr>
              <a:spcAft>
                <a:spcPts val="700"/>
              </a:spcAft>
              <a:defRPr sz="1900">
                <a:solidFill>
                  <a:srgbClr val="1B2A4A"/>
                </a:solidFill>
              </a:defRPr>
            </a:pPr>
            <a:r>
              <a:t>Past-ticket knowledge lives in people's heads, not in a searchable, reusable form.</a:t>
            </a:r>
          </a:p>
          <a:p>
            <a:pPr>
              <a:spcAft>
                <a:spcPts val="700"/>
              </a:spcAft>
              <a:defRPr sz="1900">
                <a:solidFill>
                  <a:srgbClr val="1B2A4A"/>
                </a:solidFill>
              </a:defRPr>
            </a:pPr>
            <a:r>
              <a:t>Net: hours per ticket, uneven quality, and re-investigation of already-solved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What It Does</a:t>
            </a:r>
          </a:p>
          <a:p>
            <a:pPr>
              <a:defRPr sz="1300">
                <a:solidFill>
                  <a:srgbClr val="C9D6EA"/>
                </a:solidFill>
              </a:defRPr>
            </a:pPr>
            <a:r>
              <a:t>One HSD ID in → a structured root-cause triage out</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900">
                <a:solidFill>
                  <a:srgbClr val="1B2A4A"/>
                </a:solidFill>
              </a:defRPr>
            </a:pPr>
            <a:r>
              <a:t>READ — pulls the full ticket over Kerberos SSO: title, description, entire comment thread, attachments.</a:t>
            </a:r>
          </a:p>
          <a:p>
            <a:pPr>
              <a:spcAft>
                <a:spcPts val="700"/>
              </a:spcAft>
              <a:defRPr sz="1900">
                <a:solidFill>
                  <a:srgbClr val="1B2A4A"/>
                </a:solidFill>
              </a:defRPr>
            </a:pPr>
            <a:r>
              <a:t>DECODE — scans SOL / PythonSV / POST logs; decodes MCE/MCA (MCACOD · MSCOD), EWL, RC-Fatal, MCHECK, POST; pulls Axon SVTools signatures.</a:t>
            </a:r>
          </a:p>
          <a:p>
            <a:pPr>
              <a:spcAft>
                <a:spcPts val="700"/>
              </a:spcAft>
              <a:defRPr sz="1900">
                <a:solidFill>
                  <a:srgbClr val="1B2A4A"/>
                </a:solidFill>
              </a:defRPr>
            </a:pPr>
            <a:r>
              <a:t>CORRELATE — reconstructs the investigation, converges on the root cause, separates the real failure from log noise.</a:t>
            </a:r>
          </a:p>
          <a:p>
            <a:pPr>
              <a:spcAft>
                <a:spcPts val="700"/>
              </a:spcAft>
              <a:defRPr sz="1900">
                <a:solidFill>
                  <a:srgbClr val="1B2A4A"/>
                </a:solidFill>
              </a:defRPr>
            </a:pPr>
            <a:r>
              <a:t>REPORT — clean Markdown + HTML triage: debug summary, timeline, findings, root cause, next actions.</a:t>
            </a:r>
          </a:p>
          <a:p>
            <a:pPr>
              <a:spcAft>
                <a:spcPts val="700"/>
              </a:spcAft>
              <a:defRPr sz="1900">
                <a:solidFill>
                  <a:srgbClr val="1B2A4A"/>
                </a:solidFill>
              </a:defRPr>
            </a:pPr>
            <a:r>
              <a:t>LEARN — writes every ticket into a self-learning Knowledge Base; recall improves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How It Works</a:t>
            </a:r>
          </a:p>
          <a:p>
            <a:pPr>
              <a:defRPr sz="1300">
                <a:solidFill>
                  <a:srgbClr val="C9D6EA"/>
                </a:solidFill>
              </a:defRPr>
            </a:pPr>
            <a:r>
              <a:t>End-to-end data flow</a:t>
            </a:r>
          </a:p>
        </p:txBody>
      </p:sp>
      <p:pic>
        <p:nvPicPr>
          <p:cNvPr id="3" name="Picture 2" descr="auto_hsd_analyser_flow.png"/>
          <p:cNvPicPr>
            <a:picLocks noChangeAspect="1"/>
          </p:cNvPicPr>
          <p:nvPr/>
        </p:nvPicPr>
        <p:blipFill>
          <a:blip r:embed="rId2"/>
          <a:stretch>
            <a:fillRect/>
          </a:stretch>
        </p:blipFill>
        <p:spPr>
          <a:xfrm>
            <a:off x="320040" y="1234440"/>
            <a:ext cx="11521440" cy="65166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How It Finds the Root Cause</a:t>
            </a:r>
          </a:p>
          <a:p>
            <a:pPr>
              <a:defRPr sz="1300">
                <a:solidFill>
                  <a:srgbClr val="C9D6EA"/>
                </a:solidFill>
              </a:defRPr>
            </a:pPr>
            <a:r>
              <a:t>Two paths — it always returns an answer</a:t>
            </a:r>
          </a:p>
        </p:txBody>
      </p:sp>
      <p:sp>
        <p:nvSpPr>
          <p:cNvPr id="3" name="Rounded Rectangle 2"/>
          <p:cNvSpPr/>
          <p:nvPr/>
        </p:nvSpPr>
        <p:spPr>
          <a:xfrm>
            <a:off x="502920" y="1554480"/>
            <a:ext cx="5394960" cy="4297680"/>
          </a:xfrm>
          <a:prstGeom prst="roundRect">
            <a:avLst/>
          </a:prstGeom>
          <a:solidFill>
            <a:srgbClr val="F2F6FB"/>
          </a:solidFill>
          <a:ln w="1905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68B5"/>
                </a:solidFill>
              </a:defRPr>
            </a:pPr>
            <a:r>
              <a:t>A · When engineers have investigated</a:t>
            </a:r>
          </a:p>
          <a:p>
            <a:pPr>
              <a:spcBef>
                <a:spcPts val="700"/>
              </a:spcBef>
              <a:defRPr sz="1450">
                <a:solidFill>
                  <a:srgbClr val="445566"/>
                </a:solidFill>
              </a:defRPr>
            </a:pPr>
            <a:r>
              <a:t>•  Reconstructs the comment thread in order.</a:t>
            </a:r>
          </a:p>
          <a:p>
            <a:pPr>
              <a:spcBef>
                <a:spcPts val="700"/>
              </a:spcBef>
              <a:defRPr sz="1450">
                <a:solidFill>
                  <a:srgbClr val="445566"/>
                </a:solidFill>
              </a:defRPr>
            </a:pPr>
            <a:r>
              <a:t>•  Reports the team's converged root cause, verbatim.</a:t>
            </a:r>
          </a:p>
          <a:p>
            <a:pPr>
              <a:spcBef>
                <a:spcPts val="700"/>
              </a:spcBef>
              <a:defRPr sz="1450">
                <a:solidFill>
                  <a:srgbClr val="445566"/>
                </a:solidFill>
              </a:defRPr>
            </a:pPr>
            <a:r>
              <a:t>•  Cites who said it + how proven (hypothesis vs confirmed).</a:t>
            </a:r>
          </a:p>
          <a:p>
            <a:pPr>
              <a:spcBef>
                <a:spcPts val="700"/>
              </a:spcBef>
              <a:defRPr sz="1450">
                <a:solidFill>
                  <a:srgbClr val="445566"/>
                </a:solidFill>
              </a:defRPr>
            </a:pPr>
            <a:r>
              <a:t>•  Surfaces the decisive register / experiment evidence.</a:t>
            </a:r>
          </a:p>
        </p:txBody>
      </p:sp>
      <p:sp>
        <p:nvSpPr>
          <p:cNvPr id="4" name="Rounded Rectangle 3"/>
          <p:cNvSpPr/>
          <p:nvPr/>
        </p:nvSpPr>
        <p:spPr>
          <a:xfrm>
            <a:off x="6309360" y="1554480"/>
            <a:ext cx="5394960" cy="4297680"/>
          </a:xfrm>
          <a:prstGeom prst="roundRect">
            <a:avLst/>
          </a:prstGeom>
          <a:solidFill>
            <a:srgbClr val="F2F6FB"/>
          </a:solidFill>
          <a:ln w="19050">
            <a:solidFill>
              <a:srgbClr val="00857D"/>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857D"/>
                </a:solidFill>
              </a:defRPr>
            </a:pPr>
            <a:r>
              <a:t>B · When there are no comments</a:t>
            </a:r>
          </a:p>
          <a:p>
            <a:pPr>
              <a:spcBef>
                <a:spcPts val="700"/>
              </a:spcBef>
              <a:defRPr sz="1450">
                <a:solidFill>
                  <a:srgbClr val="445566"/>
                </a:solidFill>
              </a:defRPr>
            </a:pPr>
            <a:r>
              <a:t>•  Analyses the attached logs end-to-end.</a:t>
            </a:r>
          </a:p>
          <a:p>
            <a:pPr>
              <a:spcBef>
                <a:spcPts val="700"/>
              </a:spcBef>
              <a:defRPr sz="1450">
                <a:solidFill>
                  <a:srgbClr val="445566"/>
                </a:solidFill>
              </a:defRPr>
            </a:pPr>
            <a:r>
              <a:t>•  Decodes MCE / MCA codes → bank, IP, error class.</a:t>
            </a:r>
          </a:p>
          <a:p>
            <a:pPr>
              <a:spcBef>
                <a:spcPts val="700"/>
              </a:spcBef>
              <a:defRPr sz="1450">
                <a:solidFill>
                  <a:srgbClr val="445566"/>
                </a:solidFill>
              </a:defRPr>
            </a:pPr>
            <a:r>
              <a:t>•  Folds in Axon SVTools failure signatures.</a:t>
            </a:r>
          </a:p>
          <a:p>
            <a:pPr>
              <a:spcBef>
                <a:spcPts val="700"/>
              </a:spcBef>
              <a:defRPr sz="1450">
                <a:solidFill>
                  <a:srgbClr val="445566"/>
                </a:solidFill>
              </a:defRPr>
            </a:pPr>
            <a:r>
              <a:t>•  Proposes an evidence-based hypothesis + data to confirm.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Key Capabilities</a:t>
            </a:r>
          </a:p>
          <a:p>
            <a:pPr>
              <a:defRPr sz="1300">
                <a:solidFill>
                  <a:srgbClr val="C9D6EA"/>
                </a:solidFill>
              </a:defRPr>
            </a:pPr>
            <a:r>
              <a:t>Reads like a human debug engineer</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700">
                <a:solidFill>
                  <a:srgbClr val="1B2A4A"/>
                </a:solidFill>
              </a:defRPr>
            </a:pPr>
            <a:r>
              <a:t>Comment-thread analyzer — rebuilds who observed / tried / concluded what, converges on the cause + disposition.</a:t>
            </a:r>
          </a:p>
          <a:p>
            <a:pPr>
              <a:spcAft>
                <a:spcPts val="700"/>
              </a:spcAft>
              <a:defRPr sz="1700">
                <a:solidFill>
                  <a:srgbClr val="1B2A4A"/>
                </a:solidFill>
              </a:defRPr>
            </a:pPr>
            <a:r>
              <a:t>Deep log decode — MCE/MCA (MCACOD · MSCOD → bank / IP / class), EWL, RC-Fatal, MCHECK, POST checkpoints, boot/stage progress.</a:t>
            </a:r>
          </a:p>
          <a:p>
            <a:pPr>
              <a:spcAft>
                <a:spcPts val="700"/>
              </a:spcAft>
              <a:defRPr sz="1700">
                <a:solidFill>
                  <a:srgbClr val="1B2A4A"/>
                </a:solidFill>
              </a:defRPr>
            </a:pPr>
            <a:r>
              <a:t>Axon integration — pulls linked recordings and their SVTools failure signatures as precise corroborating evidence.</a:t>
            </a:r>
          </a:p>
          <a:p>
            <a:pPr>
              <a:spcAft>
                <a:spcPts val="700"/>
              </a:spcAft>
              <a:defRPr sz="1700">
                <a:solidFill>
                  <a:srgbClr val="1B2A4A"/>
                </a:solidFill>
              </a:defRPr>
            </a:pPr>
            <a:r>
              <a:t>Signal-vs-noise ranking — flags incidental WHEA / MCA / PCIe telemetry so the real failure leads.</a:t>
            </a:r>
          </a:p>
          <a:p>
            <a:pPr>
              <a:spcAft>
                <a:spcPts val="700"/>
              </a:spcAft>
              <a:defRPr sz="1700">
                <a:solidFill>
                  <a:srgbClr val="1B2A4A"/>
                </a:solidFill>
              </a:defRPr>
            </a:pPr>
            <a:r>
              <a:t>Deterministic OFFLINE mode — full report with zero LLM dependency; optional LLM adds prose.</a:t>
            </a:r>
          </a:p>
          <a:p>
            <a:pPr>
              <a:spcAft>
                <a:spcPts val="700"/>
              </a:spcAft>
              <a:defRPr sz="1700">
                <a:solidFill>
                  <a:srgbClr val="1B2A4A"/>
                </a:solidFill>
              </a:defRPr>
            </a:pPr>
            <a:r>
              <a:t>Self-learning KB — recalls similar past HSDs with their root cause and fix.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Anatomy of a Report</a:t>
            </a:r>
          </a:p>
          <a:p>
            <a:pPr>
              <a:defRPr sz="1300">
                <a:solidFill>
                  <a:srgbClr val="C9D6EA"/>
                </a:solidFill>
              </a:defRPr>
            </a:pPr>
            <a:r>
              <a:t>What your manager will see</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800">
                <a:solidFill>
                  <a:srgbClr val="1B2A4A"/>
                </a:solidFill>
              </a:defRPr>
            </a:pPr>
            <a:r>
              <a:t>Debug Summary — RESULT, boot/stage progress, metrics, hypothesis, conclusion, next actions.</a:t>
            </a:r>
          </a:p>
          <a:p>
            <a:pPr>
              <a:spcAft>
                <a:spcPts val="700"/>
              </a:spcAft>
              <a:defRPr sz="1800">
                <a:solidFill>
                  <a:srgbClr val="1B2A4A"/>
                </a:solidFill>
              </a:defRPr>
            </a:pPr>
            <a:r>
              <a:t>Investigation Summary — compact timeline, key evidence, converged root cause, disposition.</a:t>
            </a:r>
          </a:p>
          <a:p>
            <a:pPr>
              <a:spcAft>
                <a:spcPts val="700"/>
              </a:spcAft>
              <a:defRPr sz="1800">
                <a:solidFill>
                  <a:srgbClr val="1B2A4A"/>
                </a:solidFill>
              </a:defRPr>
            </a:pPr>
            <a:r>
              <a:t>Findings — failure signatures (noise flagged), decoded MCA / BIOS / POST, confidence score.</a:t>
            </a:r>
          </a:p>
          <a:p>
            <a:pPr>
              <a:spcAft>
                <a:spcPts val="700"/>
              </a:spcAft>
              <a:defRPr sz="1800">
                <a:solidFill>
                  <a:srgbClr val="1B2A4A"/>
                </a:solidFill>
              </a:defRPr>
            </a:pPr>
            <a:r>
              <a:t>Root Cause + Validation — verdict, provenance, and what's needed to confirm it.</a:t>
            </a:r>
          </a:p>
          <a:p>
            <a:pPr>
              <a:spcAft>
                <a:spcPts val="700"/>
              </a:spcAft>
              <a:defRPr sz="1800">
                <a:solidFill>
                  <a:srgbClr val="1B2A4A"/>
                </a:solidFill>
              </a:defRPr>
            </a:pPr>
            <a:r>
              <a:t>Next Actions — targeted checks + PythonSV / rdmsr commands to close it out.</a:t>
            </a:r>
          </a:p>
          <a:p>
            <a:pPr>
              <a:spcAft>
                <a:spcPts val="700"/>
              </a:spcAft>
              <a:defRPr sz="1800">
                <a:solidFill>
                  <a:srgbClr val="1B2A4A"/>
                </a:solidFill>
              </a:defRPr>
            </a:pPr>
            <a:r>
              <a:t>Appendix — full narrative, decoded log evidence, KB matches, similar HSDs.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Live Demo</a:t>
            </a:r>
          </a:p>
          <a:p>
            <a:pPr>
              <a:defRPr sz="1300">
                <a:solidFill>
                  <a:srgbClr val="C9D6EA"/>
                </a:solidFill>
              </a:defRPr>
            </a:pPr>
            <a:r>
              <a:t>Sample: HSD 16031066261 — Warm Reset / GBLRST_CAUSE1</a:t>
            </a:r>
          </a:p>
        </p:txBody>
      </p:sp>
      <p:sp>
        <p:nvSpPr>
          <p:cNvPr id="3" name="TextBox 2"/>
          <p:cNvSpPr txBox="1"/>
          <p:nvPr/>
        </p:nvSpPr>
        <p:spPr>
          <a:xfrm>
            <a:off x="502920" y="1371600"/>
            <a:ext cx="4937760" cy="4937760"/>
          </a:xfrm>
          <a:prstGeom prst="rect">
            <a:avLst/>
          </a:prstGeom>
          <a:noFill/>
        </p:spPr>
        <p:txBody>
          <a:bodyPr wrap="square">
            <a:spAutoFit/>
          </a:bodyPr>
          <a:lstStyle/>
          <a:p>
            <a:pPr>
              <a:spcAft>
                <a:spcPts val="700"/>
              </a:spcAft>
              <a:defRPr sz="1500">
                <a:solidFill>
                  <a:srgbClr val="1B2A4A"/>
                </a:solidFill>
              </a:defRPr>
            </a:pPr>
            <a:r>
              <a:t>Root cause: S3M version mismatch (Base/Fit-loaded UP vs OSPL UP).</a:t>
            </a:r>
          </a:p>
          <a:p>
            <a:pPr>
              <a:spcAft>
                <a:spcPts val="700"/>
              </a:spcAft>
              <a:defRPr sz="1500">
                <a:solidFill>
                  <a:srgbClr val="1B2A4A"/>
                </a:solidFill>
              </a:defRPr>
            </a:pPr>
            <a:r>
              <a:t>Evidence: GBLRST_CAUSE1 = 0x4 (pass) vs 0x0 (fail) + 6-row experiment matrix.</a:t>
            </a:r>
          </a:p>
          <a:p>
            <a:pPr>
              <a:spcAft>
                <a:spcPts val="700"/>
              </a:spcAft>
              <a:defRPr sz="1500">
                <a:solidFill>
                  <a:srgbClr val="1B2A4A"/>
                </a:solidFill>
              </a:defRPr>
            </a:pPr>
            <a:r>
              <a:t>Noise flag: WHEA / MCA / PCIe marked incidental.</a:t>
            </a:r>
          </a:p>
          <a:p>
            <a:pPr>
              <a:spcAft>
                <a:spcPts val="700"/>
              </a:spcAft>
              <a:defRPr sz="1500">
                <a:solidFill>
                  <a:srgbClr val="1B2A4A"/>
                </a:solidFill>
              </a:defRPr>
            </a:pPr>
            <a:r>
              <a:t>Disposition: root-caused; handed to S3M team; ticket open.</a:t>
            </a:r>
          </a:p>
        </p:txBody>
      </p:sp>
      <p:pic>
        <p:nvPicPr>
          <p:cNvPr id="4" name="Picture 3" descr="report_screenshot.png"/>
          <p:cNvPicPr>
            <a:picLocks noChangeAspect="1"/>
          </p:cNvPicPr>
          <p:nvPr/>
        </p:nvPicPr>
        <p:blipFill>
          <a:blip r:embed="rId2"/>
          <a:stretch>
            <a:fillRect/>
          </a:stretch>
        </p:blipFill>
        <p:spPr>
          <a:xfrm>
            <a:off x="5623560" y="1325880"/>
            <a:ext cx="6126480" cy="48846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Benefits &amp; Impact</a:t>
            </a:r>
          </a:p>
          <a:p>
            <a:pPr>
              <a:defRPr sz="1300">
                <a:solidFill>
                  <a:srgbClr val="C9D6EA"/>
                </a:solidFill>
              </a:defRPr>
            </a:pPr>
            <a:r>
              <a:t>≈ 2 min per ticket vs 2–4 hrs manual (illustrative estimate — tune to your data)</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700">
                <a:solidFill>
                  <a:srgbClr val="1B2A4A"/>
                </a:solidFill>
              </a:defRPr>
            </a:pPr>
            <a:r>
              <a:t>Faster — minutes vs hours per ticket; reading, decoding and correlation are automated.</a:t>
            </a:r>
          </a:p>
          <a:p>
            <a:pPr>
              <a:spcAft>
                <a:spcPts val="700"/>
              </a:spcAft>
              <a:defRPr sz="1700">
                <a:solidFill>
                  <a:srgbClr val="1B2A4A"/>
                </a:solidFill>
              </a:defRPr>
            </a:pPr>
            <a:r>
              <a:t>Consistent — engineer-grade output every time, independent of who runs it.</a:t>
            </a:r>
          </a:p>
          <a:p>
            <a:pPr>
              <a:spcAft>
                <a:spcPts val="700"/>
              </a:spcAft>
              <a:defRPr sz="1700">
                <a:solidFill>
                  <a:srgbClr val="1B2A4A"/>
                </a:solidFill>
              </a:defRPr>
            </a:pPr>
            <a:r>
              <a:t>Complete — decisive register / MCA / experiment evidence surfaced automatically, nothing missed.</a:t>
            </a:r>
          </a:p>
          <a:p>
            <a:pPr>
              <a:spcAft>
                <a:spcPts val="700"/>
              </a:spcAft>
              <a:defRPr sz="1700">
                <a:solidFill>
                  <a:srgbClr val="1B2A4A"/>
                </a:solidFill>
              </a:defRPr>
            </a:pPr>
            <a:r>
              <a:t>Always answers — cites the team's cause, or proposes one from logs + MCE/MCA + Axon.</a:t>
            </a:r>
          </a:p>
          <a:p>
            <a:pPr>
              <a:spcAft>
                <a:spcPts val="700"/>
              </a:spcAft>
              <a:defRPr sz="1700">
                <a:solidFill>
                  <a:srgbClr val="1B2A4A"/>
                </a:solidFill>
              </a:defRPr>
            </a:pPr>
            <a:r>
              <a:t>Secure — Kerberos SSO, runs locally on any Intel-domain Windows machine.</a:t>
            </a:r>
          </a:p>
          <a:p>
            <a:pPr>
              <a:spcAft>
                <a:spcPts val="700"/>
              </a:spcAft>
              <a:defRPr sz="1700">
                <a:solidFill>
                  <a:srgbClr val="1B2A4A"/>
                </a:solidFill>
              </a:defRPr>
            </a:pPr>
            <a:r>
              <a:t>Compounding — the Knowledge Base makes every future triage faster and smarter.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Data Sources &amp; Provenance</a:t>
            </a:r>
          </a:p>
          <a:p>
            <a:pPr>
              <a:defRPr sz="1300">
                <a:solidFill>
                  <a:srgbClr val="C9D6EA"/>
                </a:solidFill>
              </a:defRPr>
            </a:pPr>
            <a:r>
              <a:t>Every fact in the report is traceable — nothing leaves the Intel network</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600">
                <a:solidFill>
                  <a:srgbClr val="1B2A4A"/>
                </a:solidFill>
              </a:defRPr>
            </a:pPr>
            <a:r>
              <a:t>Root cause &amp; investigation — the HSDES ticket itself: description + full comment thread, read live over Kerberos SSO and cited per author.</a:t>
            </a:r>
          </a:p>
          <a:p>
            <a:pPr>
              <a:spcAft>
                <a:spcPts val="700"/>
              </a:spcAft>
              <a:defRPr sz="1600">
                <a:solidFill>
                  <a:srgbClr val="1B2A4A"/>
                </a:solidFill>
              </a:defRPr>
            </a:pPr>
            <a:r>
              <a:t>Attached logs — SOL / PythonSV / POST logs from the HSDES attachments API, plus linked Axon recordings (SVTools failure signatures).</a:t>
            </a:r>
          </a:p>
          <a:p>
            <a:pPr>
              <a:spcAft>
                <a:spcPts val="700"/>
              </a:spcAft>
              <a:defRPr sz="1600">
                <a:solidFill>
                  <a:srgbClr val="1B2A4A"/>
                </a:solidFill>
              </a:defRPr>
            </a:pPr>
            <a:r>
              <a:t>Silicon MCE / MCA decode — bundled Intel decoder databases in app/decoders/, derived from Intel MCA / RAS customer documentation:</a:t>
            </a:r>
          </a:p>
          <a:p>
            <a:pPr lvl="1">
              <a:spcAft>
                <a:spcPts val="700"/>
              </a:spcAft>
              <a:defRPr sz="1300">
                <a:solidFill>
                  <a:srgbClr val="445566"/>
                </a:solidFill>
              </a:defRPr>
            </a:pPr>
            <a:r>
              <a:t>MCA 712 codes · MCHECK 496 · EWL 124 · RC-Fatal 50 · IPSD 28 · POST checkpoints (MCACOD / MSCOD → bank, IP, error class, action).</a:t>
            </a:r>
          </a:p>
          <a:p>
            <a:pPr>
              <a:spcAft>
                <a:spcPts val="700"/>
              </a:spcAft>
              <a:defRPr sz="1600">
                <a:solidFill>
                  <a:srgbClr val="1B2A4A"/>
                </a:solidFill>
              </a:defRPr>
            </a:pPr>
            <a:r>
              <a:t>Similar past issues &amp; fixes — HSDES search + a local self-learning Knowledge Base (kb/).</a:t>
            </a:r>
          </a:p>
          <a:p>
            <a:pPr>
              <a:spcAft>
                <a:spcPts val="700"/>
              </a:spcAft>
              <a:defRPr sz="1600">
                <a:solidFill>
                  <a:srgbClr val="1B2A4A"/>
                </a:solidFill>
              </a:defRPr>
            </a:pPr>
            <a:r>
              <a:t>All processing is local; the report labels each cause with its source and how proven it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Product Roadmap</a:t>
            </a:r>
          </a:p>
          <a:p>
            <a:pPr>
              <a:defRPr sz="1300">
                <a:solidFill>
                  <a:srgbClr val="C9D6EA"/>
                </a:solidFill>
              </a:defRPr>
            </a:pPr>
            <a:r>
              <a:t>Phase 0 → Phase 5 · current state and release gates</a:t>
            </a:r>
          </a:p>
        </p:txBody>
      </p:sp>
      <p:pic>
        <p:nvPicPr>
          <p:cNvPr id="3" name="Picture 2" descr="nexus_roadmap.png"/>
          <p:cNvPicPr>
            <a:picLocks noChangeAspect="1"/>
          </p:cNvPicPr>
          <p:nvPr/>
        </p:nvPicPr>
        <p:blipFill>
          <a:blip r:embed="rId2"/>
          <a:stretch>
            <a:fillRect/>
          </a:stretch>
        </p:blipFill>
        <p:spPr>
          <a:xfrm>
            <a:off x="274320" y="1188720"/>
            <a:ext cx="11612880" cy="65683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What's New — Operational Loop &amp; Qualification</a:t>
            </a:r>
          </a:p>
          <a:p>
            <a:pPr>
              <a:defRPr sz="1300">
                <a:solidFill>
                  <a:srgbClr val="C9D6EA"/>
                </a:solidFill>
              </a:defRPr>
            </a:pPr>
            <a:r>
              <a:t>Current release baseline and remaining production gates</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500">
                <a:solidFill>
                  <a:srgbClr val="1B2A4A"/>
                </a:solidFill>
              </a:defRPr>
            </a:pPr>
            <a:r>
              <a:t>HSD write-back — posts an executive RCA summary straight into the ticket comment thread (root cause · owner · confidence · evidence · next action); full report saved as HTML/MD. Dry-run + preview first.</a:t>
            </a:r>
          </a:p>
          <a:p>
            <a:pPr>
              <a:spcAft>
                <a:spcPts val="700"/>
              </a:spcAft>
              <a:defRPr sz="1500">
                <a:solidFill>
                  <a:srgbClr val="1B2A4A"/>
                </a:solidFill>
              </a:defRPr>
            </a:pPr>
            <a:r>
              <a:t>Validation Gate — blocks auto-posting weak conclusions: WORKING HYPOTHESIS, confidence &lt; 70%, unproven owner, OR an unresolved contradiction → draft-only (explicit --force override).</a:t>
            </a:r>
          </a:p>
          <a:p>
            <a:pPr>
              <a:spcAft>
                <a:spcPts val="700"/>
              </a:spcAft>
              <a:defRPr sz="1500">
                <a:solidFill>
                  <a:srgbClr val="1B2A4A"/>
                </a:solidFill>
              </a:defRPr>
            </a:pPr>
            <a:r>
              <a:t>Ownership Evidence Ladder — Level 1 direct (first-error / TOR owner) → Level 4 weak (KB similarity), so confidence is explained, not a black box.</a:t>
            </a:r>
          </a:p>
          <a:p>
            <a:pPr>
              <a:spcAft>
                <a:spcPts val="700"/>
              </a:spcAft>
              <a:defRPr sz="1500">
                <a:solidFill>
                  <a:srgbClr val="1B2A4A"/>
                </a:solidFill>
              </a:defRPr>
            </a:pPr>
            <a:r>
              <a:t>Owner → Team routing (suggestion only) — CHA→Uncore, UPI→Fabric, PCIe→PV.Domain.IO, IMC→RAS/Memory, DCU→Core; never auto-reassigns.</a:t>
            </a:r>
          </a:p>
          <a:p>
            <a:pPr>
              <a:spcAft>
                <a:spcPts val="700"/>
              </a:spcAft>
              <a:defRPr sz="1500">
                <a:solidFill>
                  <a:srgbClr val="1B2A4A"/>
                </a:solidFill>
              </a:defRPr>
            </a:pPr>
            <a:r>
              <a:t>AutoHSD closed loop — retrieve HSD → collect missing evidence with guarded SSH/BMC requirements → re-analyze → compare before/after → gate → draft/post result; 10 focused integration tests pass.</a:t>
            </a:r>
          </a:p>
          <a:p>
            <a:pPr>
              <a:spcAft>
                <a:spcPts val="700"/>
              </a:spcAft>
              <a:defRPr sz="1500">
                <a:solidFill>
                  <a:srgbClr val="1B2A4A"/>
                </a:solidFill>
              </a:defRPr>
            </a:pPr>
            <a:r>
              <a:t>Release baseline — 75 tests pass, provenance covers 18/18 resources with 0 UNKNOWN, and 47 strict Golden Cases are loaded.</a:t>
            </a:r>
          </a:p>
          <a:p>
            <a:pPr>
              <a:spcAft>
                <a:spcPts val="700"/>
              </a:spcAft>
              <a:defRPr sz="1500">
                <a:solidFill>
                  <a:srgbClr val="1B2A4A"/>
                </a:solidFill>
              </a:defRPr>
            </a:pPr>
            <a:r>
              <a:t>Qualification blocker — the bounded offline benchmark completes but produces 0/47 actionable predictions; live RCA measurement remains separate from fixture-only validation.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Phase 2 — AutoHSD Closed-Loop Tool</a:t>
            </a:r>
          </a:p>
          <a:p>
            <a:pPr>
              <a:defRPr sz="1300">
                <a:solidFill>
                  <a:srgbClr val="C9D6EA"/>
                </a:solidFill>
              </a:defRPr>
            </a:pPr>
            <a:r>
              <a:t>Implemented and fixture-tested; SSH collection remains opt-in</a:t>
            </a:r>
          </a:p>
        </p:txBody>
      </p:sp>
      <p:sp>
        <p:nvSpPr>
          <p:cNvPr id="3" name="Rounded Rectangle 2"/>
          <p:cNvSpPr/>
          <p:nvPr/>
        </p:nvSpPr>
        <p:spPr>
          <a:xfrm>
            <a:off x="502920" y="1554480"/>
            <a:ext cx="5394960" cy="4297680"/>
          </a:xfrm>
          <a:prstGeom prst="roundRect">
            <a:avLst/>
          </a:prstGeom>
          <a:solidFill>
            <a:srgbClr val="F2F6FB"/>
          </a:solidFill>
          <a:ln w="1905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68B5"/>
                </a:solidFill>
              </a:defRPr>
            </a:pPr>
            <a:r>
              <a:t>Flow</a:t>
            </a:r>
          </a:p>
          <a:p>
            <a:pPr>
              <a:spcBef>
                <a:spcPts val="700"/>
              </a:spcBef>
              <a:defRPr sz="1450">
                <a:solidFill>
                  <a:srgbClr val="445566"/>
                </a:solidFill>
              </a:defRPr>
            </a:pPr>
            <a:r>
              <a:t>•  New HSD created → parse title → classify failure type.</a:t>
            </a:r>
          </a:p>
          <a:p>
            <a:pPr>
              <a:spcBef>
                <a:spcPts val="700"/>
              </a:spcBef>
              <a:defRPr sz="1450">
                <a:solidFill>
                  <a:srgbClr val="445566"/>
                </a:solidFill>
              </a:defRPr>
            </a:pPr>
            <a:r>
              <a:t>•  Kernel Panic · PCIe/CXL · TOR Timeout · Memory Poison · Hardware Error.</a:t>
            </a:r>
          </a:p>
          <a:p>
            <a:pPr>
              <a:spcBef>
                <a:spcPts val="700"/>
              </a:spcBef>
              <a:defRPr sz="1450">
                <a:solidFill>
                  <a:srgbClr val="445566"/>
                </a:solidFill>
              </a:defRPr>
            </a:pPr>
            <a:r>
              <a:t>•  Node reachability check (SSH) — up or down.</a:t>
            </a:r>
          </a:p>
          <a:p>
            <a:pPr>
              <a:spcBef>
                <a:spcPts val="700"/>
              </a:spcBef>
              <a:defRPr sz="1450">
                <a:solidFill>
                  <a:srgbClr val="445566"/>
                </a:solidFill>
              </a:defRPr>
            </a:pPr>
            <a:r>
              <a:t>•  Node up → collect profile logs → run NEXUS RCA → validation gate.</a:t>
            </a:r>
          </a:p>
          <a:p>
            <a:pPr>
              <a:spcBef>
                <a:spcPts val="700"/>
              </a:spcBef>
              <a:defRPr sz="1450">
                <a:solidFill>
                  <a:srgbClr val="445566"/>
                </a:solidFill>
              </a:defRPr>
            </a:pPr>
            <a:r>
              <a:t>•  Gate PASS → draft HSD update; POST remains opt-in via HSDES_WRITE_ENABLED.</a:t>
            </a:r>
          </a:p>
        </p:txBody>
      </p:sp>
      <p:sp>
        <p:nvSpPr>
          <p:cNvPr id="4" name="Rounded Rectangle 3"/>
          <p:cNvSpPr/>
          <p:nvPr/>
        </p:nvSpPr>
        <p:spPr>
          <a:xfrm>
            <a:off x="6309360" y="1554480"/>
            <a:ext cx="5394960" cy="4297680"/>
          </a:xfrm>
          <a:prstGeom prst="roundRect">
            <a:avLst/>
          </a:prstGeom>
          <a:solidFill>
            <a:srgbClr val="F2F6FB"/>
          </a:solidFill>
          <a:ln w="19050">
            <a:solidFill>
              <a:srgbClr val="00857D"/>
            </a:solidFill>
          </a:ln>
        </p:spPr>
        <p:style>
          <a:lnRef idx="1">
            <a:schemeClr val="accent1"/>
          </a:lnRef>
          <a:fillRef idx="3">
            <a:schemeClr val="accent1"/>
          </a:fillRef>
          <a:effectRef idx="2">
            <a:schemeClr val="accent1"/>
          </a:effectRef>
          <a:fontRef idx="minor">
            <a:schemeClr val="lt1"/>
          </a:fontRef>
        </p:style>
        <p:txBody>
          <a:bodyPr rtlCol="0" anchor="ctr" wrap="square" lIns="256032" rIns="201168" tIns="201168"/>
          <a:lstStyle/>
          <a:p>
            <a:pPr algn="ctr">
              <a:spcAft>
                <a:spcPts val="600"/>
              </a:spcAft>
              <a:defRPr sz="1800" b="1">
                <a:solidFill>
                  <a:srgbClr val="00857D"/>
                </a:solidFill>
              </a:defRPr>
            </a:pPr>
            <a:r>
              <a:t>Safety &amp; efficiency</a:t>
            </a:r>
          </a:p>
          <a:p>
            <a:pPr>
              <a:spcBef>
                <a:spcPts val="700"/>
              </a:spcBef>
              <a:defRPr sz="1450">
                <a:solidFill>
                  <a:srgbClr val="445566"/>
                </a:solidFill>
              </a:defRPr>
            </a:pPr>
            <a:r>
              <a:t>•  Node down → post 'Node unreachable, analysis not possible' (no empty report).</a:t>
            </a:r>
          </a:p>
          <a:p>
            <a:pPr>
              <a:spcBef>
                <a:spcPts val="700"/>
              </a:spcBef>
              <a:defRPr sz="1450">
                <a:solidFill>
                  <a:srgbClr val="445566"/>
                </a:solidFill>
              </a:defRPr>
            </a:pPr>
            <a:r>
              <a:t>•  Evidence profiles collect only artifacts relevant to the failure type.</a:t>
            </a:r>
          </a:p>
          <a:p>
            <a:pPr>
              <a:spcBef>
                <a:spcPts val="700"/>
              </a:spcBef>
              <a:defRPr sz="1450">
                <a:solidFill>
                  <a:srgbClr val="445566"/>
                </a:solidFill>
              </a:defRPr>
            </a:pPr>
            <a:r>
              <a:t>•  Secrets (SSH) read from environment only — never logged or committed.</a:t>
            </a:r>
          </a:p>
          <a:p>
            <a:pPr>
              <a:spcBef>
                <a:spcPts val="700"/>
              </a:spcBef>
              <a:defRPr sz="1450">
                <a:solidFill>
                  <a:srgbClr val="445566"/>
                </a:solidFill>
              </a:defRPr>
            </a:pPr>
            <a:r>
              <a:t>•  Weak / contradicted RCA never auto-posts — stays a draft.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Anticipated Questions (1 of 2)</a:t>
            </a:r>
          </a:p>
          <a:p>
            <a:pPr>
              <a:defRPr sz="1300">
                <a:solidFill>
                  <a:srgbClr val="C9D6EA"/>
                </a:solidFill>
              </a:defRPr>
            </a:pPr>
            <a:r>
              <a:t>Prepared answers for the demo</a:t>
            </a:r>
          </a:p>
        </p:txBody>
      </p:sp>
      <p:sp>
        <p:nvSpPr>
          <p:cNvPr id="3" name="TextBox 2"/>
          <p:cNvSpPr txBox="1"/>
          <p:nvPr/>
        </p:nvSpPr>
        <p:spPr>
          <a:xfrm>
            <a:off x="640080" y="1325880"/>
            <a:ext cx="10972800" cy="5120640"/>
          </a:xfrm>
          <a:prstGeom prst="rect">
            <a:avLst/>
          </a:prstGeom>
          <a:noFill/>
        </p:spPr>
        <p:txBody>
          <a:bodyPr wrap="square">
            <a:spAutoFit/>
          </a:bodyPr>
          <a:lstStyle/>
          <a:p>
            <a:pPr>
              <a:spcBef>
                <a:spcPts val="600"/>
              </a:spcBef>
              <a:spcAft>
                <a:spcPts val="200"/>
              </a:spcAft>
              <a:defRPr sz="1500" b="1">
                <a:solidFill>
                  <a:srgbClr val="0068B5"/>
                </a:solidFill>
              </a:defRPr>
            </a:pPr>
            <a:r>
              <a:t>Q:  Does any Intel data leave the network / go to an external AI?</a:t>
            </a:r>
          </a:p>
          <a:p>
            <a:pPr>
              <a:spcAft>
                <a:spcPts val="600"/>
              </a:spcAft>
              <a:defRPr sz="1400">
                <a:solidFill>
                  <a:srgbClr val="445566"/>
                </a:solidFill>
              </a:defRPr>
            </a:pPr>
            <a:r>
              <a:t>A:  No. It runs locally on your Intel-domain machine and talks only to HSDES. LLM reasoning is optional and off by default — the demo runs in deterministic OFFLINE mode.</a:t>
            </a:r>
          </a:p>
          <a:p>
            <a:pPr>
              <a:spcBef>
                <a:spcPts val="600"/>
              </a:spcBef>
              <a:spcAft>
                <a:spcPts val="200"/>
              </a:spcAft>
              <a:defRPr sz="1500" b="1">
                <a:solidFill>
                  <a:srgbClr val="0068B5"/>
                </a:solidFill>
              </a:defRPr>
            </a:pPr>
            <a:r>
              <a:t>Q:  How secure is authentication?</a:t>
            </a:r>
          </a:p>
          <a:p>
            <a:pPr>
              <a:spcAft>
                <a:spcPts val="600"/>
              </a:spcAft>
              <a:defRPr sz="1400">
                <a:solidFill>
                  <a:srgbClr val="445566"/>
                </a:solidFill>
              </a:defRPr>
            </a:pPr>
            <a:r>
              <a:t>A:  Kerberos SSO — it authenticates as you, with no password and no stored token. Any teammate on the Intel domain can run it as themselves.</a:t>
            </a:r>
          </a:p>
          <a:p>
            <a:pPr>
              <a:spcBef>
                <a:spcPts val="600"/>
              </a:spcBef>
              <a:spcAft>
                <a:spcPts val="200"/>
              </a:spcAft>
              <a:defRPr sz="1500" b="1">
                <a:solidFill>
                  <a:srgbClr val="0068B5"/>
                </a:solidFill>
              </a:defRPr>
            </a:pPr>
            <a:r>
              <a:t>Q:  Can we trust the root cause it reports?</a:t>
            </a:r>
          </a:p>
          <a:p>
            <a:pPr>
              <a:spcAft>
                <a:spcPts val="600"/>
              </a:spcAft>
              <a:defRPr sz="1400">
                <a:solidFill>
                  <a:srgbClr val="445566"/>
                </a:solidFill>
              </a:defRPr>
            </a:pPr>
            <a:r>
              <a:t>A:  Yes — it doesn't guess. It repeats the root cause the engineers actually wrote in the ticket, cites who said it, and labels how proven it is (e.g. 'unvalidated hypothesis' vs 'confirmed'). If no cause is stated, it says so instead of inventing one.</a:t>
            </a:r>
          </a:p>
          <a:p>
            <a:pPr>
              <a:spcBef>
                <a:spcPts val="600"/>
              </a:spcBef>
              <a:spcAft>
                <a:spcPts val="200"/>
              </a:spcAft>
              <a:defRPr sz="1500" b="1">
                <a:solidFill>
                  <a:srgbClr val="0068B5"/>
                </a:solidFill>
              </a:defRPr>
            </a:pPr>
            <a:r>
              <a:t>Q:  Does it modify or close the HSD ticket?</a:t>
            </a:r>
          </a:p>
          <a:p>
            <a:pPr>
              <a:spcAft>
                <a:spcPts val="600"/>
              </a:spcAft>
              <a:defRPr sz="1400">
                <a:solidFill>
                  <a:srgbClr val="445566"/>
                </a:solidFill>
              </a:defRPr>
            </a:pPr>
            <a:r>
              <a:t>A:  It posts an executive RCA summary as a ticket comment (opt-in) — it never closes or overwrites fields. A validation gate blocks weak/contradicted conclusions, which stay drafts until reviewed.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457200" wrap="square"/>
          <a:lstStyle/>
          <a:p>
            <a:pPr algn="ctr">
              <a:defRPr sz="3000" b="1">
                <a:solidFill>
                  <a:srgbClr val="FFFFFF"/>
                </a:solidFill>
              </a:defRPr>
            </a:pPr>
            <a:r>
              <a:t>Anticipated Questions (2 of 2)</a:t>
            </a:r>
          </a:p>
          <a:p>
            <a:pPr>
              <a:defRPr sz="1300">
                <a:solidFill>
                  <a:srgbClr val="C9D6EA"/>
                </a:solidFill>
              </a:defRPr>
            </a:pPr>
            <a:r>
              <a:t>Prepared answers for the demo</a:t>
            </a:r>
          </a:p>
        </p:txBody>
      </p:sp>
      <p:sp>
        <p:nvSpPr>
          <p:cNvPr id="3" name="TextBox 2"/>
          <p:cNvSpPr txBox="1"/>
          <p:nvPr/>
        </p:nvSpPr>
        <p:spPr>
          <a:xfrm>
            <a:off x="640080" y="1325880"/>
            <a:ext cx="10972800" cy="5120640"/>
          </a:xfrm>
          <a:prstGeom prst="rect">
            <a:avLst/>
          </a:prstGeom>
          <a:noFill/>
        </p:spPr>
        <p:txBody>
          <a:bodyPr wrap="square">
            <a:spAutoFit/>
          </a:bodyPr>
          <a:lstStyle/>
          <a:p>
            <a:pPr>
              <a:spcBef>
                <a:spcPts val="600"/>
              </a:spcBef>
              <a:spcAft>
                <a:spcPts val="200"/>
              </a:spcAft>
              <a:defRPr sz="1400" b="1">
                <a:solidFill>
                  <a:srgbClr val="0068B5"/>
                </a:solidFill>
              </a:defRPr>
            </a:pPr>
            <a:r>
              <a:t>Q:  How does it separate the real failure from log noise?</a:t>
            </a:r>
          </a:p>
          <a:p>
            <a:pPr>
              <a:spcAft>
                <a:spcPts val="600"/>
              </a:spcAft>
              <a:defRPr sz="1300">
                <a:solidFill>
                  <a:srgbClr val="445566"/>
                </a:solidFill>
              </a:defRPr>
            </a:pPr>
            <a:r>
              <a:t>A:  When the comment thread has converged on a cause, broad signatures (WHEA / MCA / PCIe) are explicitly flagged as incidental background telemetry, so the real failure leads.</a:t>
            </a:r>
          </a:p>
          <a:p>
            <a:pPr>
              <a:spcBef>
                <a:spcPts val="600"/>
              </a:spcBef>
              <a:spcAft>
                <a:spcPts val="200"/>
              </a:spcAft>
              <a:defRPr sz="1400" b="1">
                <a:solidFill>
                  <a:srgbClr val="0068B5"/>
                </a:solidFill>
              </a:defRPr>
            </a:pPr>
            <a:r>
              <a:t>Q:  What if the comments are thin or missing?</a:t>
            </a:r>
          </a:p>
          <a:p>
            <a:pPr>
              <a:spcAft>
                <a:spcPts val="600"/>
              </a:spcAft>
              <a:defRPr sz="1300">
                <a:solidFill>
                  <a:srgbClr val="445566"/>
                </a:solidFill>
              </a:defRPr>
            </a:pPr>
            <a:r>
              <a:t>A:  It falls back to decoded log evidence, boot/stage progress, MCA/BIOS/POST decode, and Knowledge-Base recall of similar past HSDs — you still get a structured triage.</a:t>
            </a:r>
          </a:p>
          <a:p>
            <a:pPr>
              <a:spcBef>
                <a:spcPts val="600"/>
              </a:spcBef>
              <a:spcAft>
                <a:spcPts val="200"/>
              </a:spcAft>
              <a:defRPr sz="1400" b="1">
                <a:solidFill>
                  <a:srgbClr val="0068B5"/>
                </a:solidFill>
              </a:defRPr>
            </a:pPr>
            <a:r>
              <a:t>Q:  How long does a ticket take, and what does it cost?</a:t>
            </a:r>
          </a:p>
          <a:p>
            <a:pPr>
              <a:spcAft>
                <a:spcPts val="600"/>
              </a:spcAft>
              <a:defRPr sz="1300">
                <a:solidFill>
                  <a:srgbClr val="445566"/>
                </a:solidFill>
              </a:defRPr>
            </a:pPr>
            <a:r>
              <a:t>A:  Seconds to a couple of minutes per ticket versus hours by hand. It uses only open-source Python libraries and runs on your existing machine — no new licensing.</a:t>
            </a:r>
          </a:p>
          <a:p>
            <a:pPr>
              <a:spcBef>
                <a:spcPts val="600"/>
              </a:spcBef>
              <a:spcAft>
                <a:spcPts val="200"/>
              </a:spcAft>
              <a:defRPr sz="1400" b="1">
                <a:solidFill>
                  <a:srgbClr val="0068B5"/>
                </a:solidFill>
              </a:defRPr>
            </a:pPr>
            <a:r>
              <a:t>Q:  Which platforms and domains are covered?</a:t>
            </a:r>
          </a:p>
          <a:p>
            <a:pPr>
              <a:spcAft>
                <a:spcPts val="600"/>
              </a:spcAft>
              <a:defRPr sz="1300">
                <a:solidFill>
                  <a:srgbClr val="445566"/>
                </a:solidFill>
              </a:defRPr>
            </a:pPr>
            <a:r>
              <a:t>A:  Server platforms today (GNR / SRF / CWF) across RAS/MCA, UPI, memory, PCIe/CXL, power, BIOS/IFWI/BMC, OS/driver; DMR / COR are ready to add.</a:t>
            </a:r>
          </a:p>
          <a:p>
            <a:pPr>
              <a:spcBef>
                <a:spcPts val="600"/>
              </a:spcBef>
              <a:spcAft>
                <a:spcPts val="200"/>
              </a:spcAft>
              <a:defRPr sz="1400" b="1">
                <a:solidFill>
                  <a:srgbClr val="0068B5"/>
                </a:solidFill>
              </a:defRPr>
            </a:pPr>
            <a:r>
              <a:t>Q:  How does the 'learning' work?</a:t>
            </a:r>
          </a:p>
          <a:p>
            <a:pPr>
              <a:spcAft>
                <a:spcPts val="600"/>
              </a:spcAft>
              <a:defRPr sz="1300">
                <a:solidFill>
                  <a:srgbClr val="445566"/>
                </a:solidFill>
              </a:defRPr>
            </a:pPr>
            <a:r>
              <a:t>A:  Every analysed ticket is written into a local self-learning Knowledge Base, so recall of similar issues and their fixes improves over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698480" cy="1463040"/>
          </a:xfrm>
          <a:prstGeom prst="rect">
            <a:avLst/>
          </a:prstGeom>
          <a:noFill/>
        </p:spPr>
        <p:txBody>
          <a:bodyPr wrap="none">
            <a:spAutoFit/>
          </a:bodyPr>
          <a:lstStyle/>
          <a:p>
            <a:pPr>
              <a:defRPr sz="4400" b="1">
                <a:solidFill>
                  <a:srgbClr val="FFFFFF"/>
                </a:solidFill>
              </a:defRPr>
            </a:pPr>
            <a:r>
              <a:t>Thank you</a:t>
            </a:r>
          </a:p>
          <a:p>
            <a:pPr>
              <a:defRPr sz="2000">
                <a:solidFill>
                  <a:srgbClr val="9FC3E8"/>
                </a:solidFil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