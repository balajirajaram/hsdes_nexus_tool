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ram, Balaji" userId="ef3de614-10a3-4ba9-80dc-e89bcc86f5f4" providerId="ADAL" clId="{7C535360-BD65-42DA-BD95-1E44F351206F}"/>
    <pc:docChg chg="modSld">
      <pc:chgData name="Rajaram, Balaji" userId="ef3de614-10a3-4ba9-80dc-e89bcc86f5f4" providerId="ADAL" clId="{7C535360-BD65-42DA-BD95-1E44F351206F}" dt="2026-09-11T18:07:52.964" v="7" actId="1076"/>
      <pc:docMkLst>
        <pc:docMk/>
      </pc:docMkLst>
      <pc:sldChg chg="modSp mod">
        <pc:chgData name="Rajaram, Balaji" userId="ef3de614-10a3-4ba9-80dc-e89bcc86f5f4" providerId="ADAL" clId="{7C535360-BD65-42DA-BD95-1E44F351206F}" dt="2026-09-11T18:07:09.309" v="2" actId="1076"/>
        <pc:sldMkLst>
          <pc:docMk/>
          <pc:sldMk cId="0" sldId="257"/>
        </pc:sldMkLst>
        <pc:spChg chg="mod">
          <ac:chgData name="Rajaram, Balaji" userId="ef3de614-10a3-4ba9-80dc-e89bcc86f5f4" providerId="ADAL" clId="{7C535360-BD65-42DA-BD95-1E44F351206F}" dt="2026-09-11T18:07:03.560" v="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ajaram, Balaji" userId="ef3de614-10a3-4ba9-80dc-e89bcc86f5f4" providerId="ADAL" clId="{7C535360-BD65-42DA-BD95-1E44F351206F}" dt="2026-09-11T18:07:06.874" v="1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ajaram, Balaji" userId="ef3de614-10a3-4ba9-80dc-e89bcc86f5f4" providerId="ADAL" clId="{7C535360-BD65-42DA-BD95-1E44F351206F}" dt="2026-09-11T18:07:09.309" v="2" actId="1076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Rajaram, Balaji" userId="ef3de614-10a3-4ba9-80dc-e89bcc86f5f4" providerId="ADAL" clId="{7C535360-BD65-42DA-BD95-1E44F351206F}" dt="2026-09-11T18:07:52.964" v="7" actId="1076"/>
        <pc:sldMkLst>
          <pc:docMk/>
          <pc:sldMk cId="0" sldId="260"/>
        </pc:sldMkLst>
        <pc:spChg chg="mod">
          <ac:chgData name="Rajaram, Balaji" userId="ef3de614-10a3-4ba9-80dc-e89bcc86f5f4" providerId="ADAL" clId="{7C535360-BD65-42DA-BD95-1E44F351206F}" dt="2026-09-11T18:07:33.726" v="3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Rajaram, Balaji" userId="ef3de614-10a3-4ba9-80dc-e89bcc86f5f4" providerId="ADAL" clId="{7C535360-BD65-42DA-BD95-1E44F351206F}" dt="2026-09-11T18:07:42.455" v="4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ajaram, Balaji" userId="ef3de614-10a3-4ba9-80dc-e89bcc86f5f4" providerId="ADAL" clId="{7C535360-BD65-42DA-BD95-1E44F351206F}" dt="2026-09-11T18:07:45.710" v="5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ajaram, Balaji" userId="ef3de614-10a3-4ba9-80dc-e89bcc86f5f4" providerId="ADAL" clId="{7C535360-BD65-42DA-BD95-1E44F351206F}" dt="2026-09-11T18:07:49.352" v="6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ajaram, Balaji" userId="ef3de614-10a3-4ba9-80dc-e89bcc86f5f4" providerId="ADAL" clId="{7C535360-BD65-42DA-BD95-1E44F351206F}" dt="2026-09-11T18:07:52.964" v="7" actId="1076"/>
          <ac:spMkLst>
            <pc:docMk/>
            <pc:sldMk cId="0" sldId="260"/>
            <ac:spMk id="2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874519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NEXUS: AI-Assisted Root-Cause Analysis for Xeon Server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0632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C9D6EA"/>
                </a:solidFill>
              </a:defRPr>
            </a:pPr>
            <a:r>
              <a:rPr dirty="0"/>
              <a:t>A faster path from validation signal to an evidence-aware engineering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0807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9D6EA"/>
                </a:solidFill>
              </a:defRPr>
            </a:pPr>
            <a:r>
              <a:t>Intel Confidential  |  2026-09-11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Validation teams have more signals than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7A"/>
                </a:solidFill>
              </a:defRPr>
            </a:pPr>
            <a:r>
              <a:t>Intel Confidential  |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2743200" cy="1508760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82495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B5"/>
                </a:solidFill>
              </a:defRPr>
            </a:pPr>
            <a:r>
              <a:t>RECENT VALIDATION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57400"/>
            <a:ext cx="241401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Related tickets across recent validation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78024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68B5"/>
                </a:solidFill>
              </a:defRPr>
            </a:pPr>
            <a:r>
              <a:rPr dirty="0"/>
              <a:t>8,802+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554480"/>
            <a:ext cx="2743200" cy="1508760"/>
          </a:xfrm>
          <a:prstGeom prst="roundRect">
            <a:avLst/>
          </a:prstGeom>
          <a:solidFill>
            <a:srgbClr val="FFF4DE"/>
          </a:solidFill>
          <a:ln>
            <a:solidFill>
              <a:srgbClr val="A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76472" y="1682495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46500"/>
                </a:solidFill>
              </a:defRPr>
            </a:pPr>
            <a:r>
              <a:t>ENGINEERING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057400"/>
            <a:ext cx="241401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Logs, comments, machine registers, and historical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1831" y="2425529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A46500"/>
                </a:solidFill>
              </a:defRPr>
            </a:pPr>
            <a:r>
              <a:rPr dirty="0"/>
              <a:t>Many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554480"/>
            <a:ext cx="2743200" cy="1508760"/>
          </a:xfrm>
          <a:prstGeom prst="roundRect">
            <a:avLst/>
          </a:prstGeom>
          <a:solidFill>
            <a:srgbClr val="E8F6EE"/>
          </a:solidFill>
          <a:ln>
            <a:solidFill>
              <a:srgbClr val="17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272" y="1682495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7A4B"/>
                </a:solidFill>
              </a:defRPr>
            </a:pPr>
            <a:r>
              <a:t>DECISION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057400"/>
            <a:ext cx="241401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A useful answer must arrive before the next debug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2441446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77A4B"/>
                </a:solidFill>
              </a:defRPr>
            </a:pPr>
            <a:r>
              <a:rPr dirty="0"/>
              <a:t>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42B3D"/>
                </a:solidFill>
              </a:defRPr>
            </a:pPr>
            <a:r>
              <a:t>The same failure patterns are repeatedly reconstructed by hand.</a:t>
            </a:r>
          </a:p>
          <a:p>
            <a:pPr>
              <a:spcAft>
                <a:spcPts val="1500"/>
              </a:spcAft>
              <a:defRPr sz="1900">
                <a:solidFill>
                  <a:srgbClr val="142B3D"/>
                </a:solidFill>
              </a:defRPr>
            </a:pPr>
            <a:r>
              <a:t>Evidence is distributed across tickets, attachments, and machine output.</a:t>
            </a:r>
          </a:p>
          <a:p>
            <a:pPr>
              <a:spcAft>
                <a:spcPts val="1500"/>
              </a:spcAft>
              <a:defRPr sz="1900">
                <a:solidFill>
                  <a:srgbClr val="142B3D"/>
                </a:solidFill>
              </a:defRPr>
            </a:pPr>
            <a:r>
              <a:t>Teams need speed without turning a plausible theory into a false 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NEXUS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One simple path from a ticket to an actionable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7A"/>
                </a:solidFill>
              </a:defRPr>
            </a:pPr>
            <a:r>
              <a:t>Intel Confidential  |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606040"/>
            <a:ext cx="2150668" cy="804672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" y="2807208"/>
            <a:ext cx="20775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25A"/>
                </a:solidFill>
              </a:defRPr>
            </a:pPr>
            <a:r>
              <a:t>HSD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0436" y="2852928"/>
            <a:ext cx="11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8B5"/>
                </a:solidFill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8452" y="2606040"/>
            <a:ext cx="2150668" cy="804672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5028" y="2807208"/>
            <a:ext cx="20775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25A"/>
                </a:solidFill>
              </a:defRPr>
            </a:pPr>
            <a: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7409" y="2852928"/>
            <a:ext cx="11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8B5"/>
                </a:solidFill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5425" y="2606040"/>
            <a:ext cx="2150668" cy="804672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42001" y="2807208"/>
            <a:ext cx="20775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25A"/>
                </a:solidFill>
              </a:defRPr>
            </a:pPr>
            <a: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4382" y="2852928"/>
            <a:ext cx="11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8B5"/>
                </a:solidFill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2398" y="2606040"/>
            <a:ext cx="2150668" cy="804672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38974" y="2807208"/>
            <a:ext cx="20775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25A"/>
                </a:solidFill>
              </a:defRPr>
            </a:pPr>
            <a:r>
              <a:t>Verdict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71355" y="2852928"/>
            <a:ext cx="118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8B5"/>
                </a:solidFill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9371" y="2606040"/>
            <a:ext cx="2150668" cy="804672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35947" y="2807208"/>
            <a:ext cx="20775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25A"/>
                </a:solidFill>
              </a:defRPr>
            </a:pPr>
            <a: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42B3D"/>
                </a:solidFill>
              </a:defRPr>
            </a:pPr>
            <a:r>
              <a:t>NEXUS reads the ticket and available machine evidence, translates the signal into hardware language, separates evidence from claims, and returns a clear next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Built-In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Confidence is earned through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7A"/>
                </a:solidFill>
              </a:defRPr>
            </a:pPr>
            <a:r>
              <a:t>Intel Confidential  |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383280" cy="2057400"/>
          </a:xfrm>
          <a:prstGeom prst="roundRect">
            <a:avLst/>
          </a:prstGeom>
          <a:solidFill>
            <a:srgbClr val="E8F6EE"/>
          </a:solidFill>
          <a:ln>
            <a:solidFill>
              <a:srgbClr val="17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728216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7A4B"/>
                </a:solidFill>
              </a:defRPr>
            </a:pPr>
            <a:r>
              <a:t>Evidence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03120"/>
            <a:ext cx="3054096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2B3D"/>
                </a:solidFill>
              </a:defRPr>
            </a:pPr>
            <a:r>
              <a:t>Never mistakes a guess for proven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383280" cy="2057400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728216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B5"/>
                </a:solidFill>
              </a:defRPr>
            </a:pPr>
            <a:r>
              <a:t>Conflict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03120"/>
            <a:ext cx="3054096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2B3D"/>
                </a:solidFill>
              </a:defRPr>
            </a:pPr>
            <a:r>
              <a:t>Flags conflicting evidence instead of guessing.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83280" cy="2057400"/>
          </a:xfrm>
          <a:prstGeom prst="roundRect">
            <a:avLst/>
          </a:prstGeom>
          <a:solidFill>
            <a:srgbClr val="FFF4DE"/>
          </a:solidFill>
          <a:ln>
            <a:solidFill>
              <a:srgbClr val="A4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728216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46500"/>
                </a:solidFill>
              </a:defRPr>
            </a:pPr>
            <a:r>
              <a:t>Guarded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03120"/>
            <a:ext cx="3054096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2B3D"/>
                </a:solidFill>
              </a:defRPr>
            </a:pPr>
            <a:r>
              <a:t>Refuses to auto-post weak conclusions.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25A"/>
                </a:solidFill>
              </a:defRPr>
            </a:pPr>
            <a:r>
              <a:t>The result is a tool that is useful under pressure without hiding uncertainty.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Current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Measured in the current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7A"/>
                </a:solidFill>
              </a:defRPr>
            </a:pPr>
            <a:r>
              <a:t>Intel Confidential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240280" cy="1508760"/>
          </a:xfrm>
          <a:prstGeom prst="roundRect">
            <a:avLst/>
          </a:prstGeom>
          <a:solidFill>
            <a:srgbClr val="E8F6EE"/>
          </a:solidFill>
          <a:ln>
            <a:solidFill>
              <a:srgbClr val="17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545336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7A4B"/>
                </a:solidFill>
              </a:defRPr>
            </a:pPr>
            <a:r>
              <a:t>AUTOMATED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20240"/>
            <a:ext cx="191109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Continuously verify correct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272" y="2363723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77A4B"/>
                </a:solidFill>
              </a:defRPr>
            </a:pPr>
            <a:r>
              <a:rPr dirty="0"/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417320"/>
            <a:ext cx="2240280" cy="1508760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545336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B5"/>
                </a:solidFill>
              </a:defRPr>
            </a:pPr>
            <a:r>
              <a:t>REFERENCE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1920240"/>
            <a:ext cx="191109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Validated examples across five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377441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68B5"/>
                </a:solidFill>
              </a:defRPr>
            </a:pPr>
            <a:r>
              <a:rPr dirty="0"/>
              <a:t>47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1417320"/>
            <a:ext cx="2240280" cy="1508760"/>
          </a:xfrm>
          <a:prstGeom prst="roundRect">
            <a:avLst/>
          </a:prstGeom>
          <a:solidFill>
            <a:srgbClr val="E8F6EE"/>
          </a:solidFill>
          <a:ln>
            <a:solidFill>
              <a:srgbClr val="17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22392" y="1545336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7A4B"/>
                </a:solidFill>
              </a:defRPr>
            </a:pPr>
            <a:r>
              <a:t>COMPONENT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1920240"/>
            <a:ext cx="191109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Correctly identifies the reporting hardware component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2306997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77A4B"/>
                </a:solidFill>
              </a:defRPr>
            </a:pPr>
            <a:r>
              <a:rPr dirty="0"/>
              <a:t>100.0%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2240280" cy="1508760"/>
          </a:xfrm>
          <a:prstGeom prst="roundRect">
            <a:avLst/>
          </a:prstGeom>
          <a:solidFill>
            <a:srgbClr val="E8F6EE"/>
          </a:solidFill>
          <a:ln>
            <a:solidFill>
              <a:srgbClr val="17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1" y="1545336"/>
            <a:ext cx="1911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7A4B"/>
                </a:solidFill>
              </a:defRPr>
            </a:pPr>
            <a:r>
              <a:t>TEAM / IP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1920240"/>
            <a:ext cx="191109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Abstraction-aware ownership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306997"/>
            <a:ext cx="1911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77A4B"/>
                </a:solidFill>
              </a:defRPr>
            </a:pPr>
            <a:r>
              <a:rPr dirty="0"/>
              <a:t>83.3%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1417320"/>
            <a:ext cx="1691640" cy="1508760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77272" y="1545336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B5"/>
                </a:solidFill>
              </a:defRPr>
            </a:pPr>
            <a:r>
              <a:t>OPERATING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7272" y="1920240"/>
            <a:ext cx="1362456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42B3D"/>
                </a:solidFill>
              </a:defRPr>
            </a:pPr>
            <a:r>
              <a:t>Batch analysis and failure-type-aware log collection supported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7272" y="2455164"/>
            <a:ext cx="1362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068B5"/>
                </a:solidFill>
              </a:defRPr>
            </a:pPr>
            <a:r>
              <a:rPr dirty="0"/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6B7A"/>
                </a:solidFill>
              </a:defRPr>
            </a:pPr>
            <a:r>
              <a:t>Source: latest release manifest and its embedded benchmark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A validated failure becomes a reusable engineering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7A"/>
                </a:solidFill>
              </a:defRPr>
            </a:pPr>
            <a:r>
              <a:t>Intel Confidential  |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2148840"/>
          </a:xfrm>
          <a:prstGeom prst="roundRect">
            <a:avLst/>
          </a:prstGeom>
          <a:solidFill>
            <a:srgbClr val="E9F4FB"/>
          </a:solidFill>
          <a:ln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28216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B5"/>
                </a:solidFill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5409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42B3D"/>
                </a:solidFill>
              </a:defRPr>
            </a:pPr>
            <a:r>
              <a:t>Frequent L1 instruction-fetch machine-check errors during branch-tree workload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83280" cy="2148840"/>
          </a:xfrm>
          <a:prstGeom prst="roundRect">
            <a:avLst/>
          </a:prstGeom>
          <a:solidFill>
            <a:srgbClr val="E8F6EE"/>
          </a:solidFill>
          <a:ln>
            <a:solidFill>
              <a:srgbClr val="17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728216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7A4B"/>
                </a:solidFill>
              </a:defRPr>
            </a:pPr>
            <a:r>
              <a:t>NEXUS connects the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103120"/>
            <a:ext cx="305409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42B3D"/>
                </a:solidFill>
              </a:defRPr>
            </a:pPr>
            <a:r>
              <a:t>Core / Front End / BPU ownership is identified and tied to a validated RTL failure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83280" cy="2148840"/>
          </a:xfrm>
          <a:prstGeom prst="roundRect">
            <a:avLst/>
          </a:prstGeom>
          <a:solidFill>
            <a:srgbClr val="E8F6EE"/>
          </a:solidFill>
          <a:ln>
            <a:solidFill>
              <a:srgbClr val="17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728216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7A4B"/>
                </a:solidFill>
              </a:defRPr>
            </a:pPr>
            <a: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03120"/>
            <a:ext cx="3054096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42B3D"/>
                </a:solidFill>
              </a:defRPr>
            </a:pPr>
            <a:r>
              <a:t>The issue is fixed in PNC C0, with a Level 4 validated engineering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A6B7A"/>
                </a:solidFill>
              </a:defRPr>
            </a:pPr>
            <a:r>
              <a:t>HSD 15019342741  |  Validated reference 13013348392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Expanding the value of a strong evidence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7A"/>
                </a:solidFill>
              </a:defRPr>
            </a:pPr>
            <a:r>
              <a:t>Intel Confidential  |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142B3D"/>
                </a:solidFill>
              </a:defRPr>
            </a:pPr>
            <a:r>
              <a:t>Broader platform coverage and richer cross-team ownership context.</a:t>
            </a:r>
          </a:p>
          <a:p>
            <a:pPr>
              <a:spcAft>
                <a:spcPts val="1500"/>
              </a:spcAft>
              <a:defRPr sz="2200">
                <a:solidFill>
                  <a:srgbClr val="142B3D"/>
                </a:solidFill>
              </a:defRPr>
            </a:pPr>
            <a:r>
              <a:t>A more polished operating surface for repeated engineering workflows.</a:t>
            </a:r>
          </a:p>
          <a:p>
            <a:pPr>
              <a:spcAft>
                <a:spcPts val="1500"/>
              </a:spcAft>
              <a:defRPr sz="2200">
                <a:solidFill>
                  <a:srgbClr val="142B3D"/>
                </a:solidFill>
              </a:defRPr>
            </a:pPr>
            <a:r>
              <a:t>Shared deployment so validated analysis is available where teams work.</a:t>
            </a:r>
          </a:p>
          <a:p>
            <a:pPr>
              <a:spcAft>
                <a:spcPts val="1500"/>
              </a:spcAft>
              <a:defRPr sz="2200">
                <a:solidFill>
                  <a:srgbClr val="142B3D"/>
                </a:solidFill>
              </a:defRPr>
            </a:pPr>
            <a:r>
              <a:t>Continued learning from reviewed, traceable validation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325A"/>
                </a:solidFill>
              </a:defRPr>
            </a:pPr>
            <a:r>
              <a:t>The direction is simple: make good engineering judgment easier to repeat.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4630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Thank You /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621792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9D6EA"/>
                </a:solidFill>
              </a:defRPr>
            </a:pPr>
            <a:r>
              <a:t>NEXUS turns validation history and machine evidence into a guarded engineering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0528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A6B7A"/>
                </a:solidFill>
              </a:defRPr>
            </a:pPr>
            <a:r>
              <a:t>Intel Confidential  |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25A"/>
                </a:solidFill>
              </a:defRPr>
            </a:pPr>
            <a:r>
              <a:t>Questions and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42B3D"/>
                </a:solidFill>
              </a:defRPr>
            </a:pPr>
            <a:r>
              <a:t>A measured path from signal to confidence to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450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Rajaram, Balaji</cp:lastModifiedBy>
  <cp:revision>1</cp:revision>
  <dcterms:created xsi:type="dcterms:W3CDTF">2013-01-27T09:14:16Z</dcterms:created>
  <dcterms:modified xsi:type="dcterms:W3CDTF">2026-09-11T18:08:03Z</dcterms:modified>
  <cp:category/>
</cp:coreProperties>
</file>