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36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jaram, Balaji" userId="ef3de614-10a3-4ba9-80dc-e89bcc86f5f4" providerId="ADAL" clId="{7C535360-BD65-42DA-BD95-1E44F351206F}"/>
    <pc:docChg chg="modSld">
      <pc:chgData name="Rajaram, Balaji" userId="ef3de614-10a3-4ba9-80dc-e89bcc86f5f4" providerId="ADAL" clId="{7C535360-BD65-42DA-BD95-1E44F351206F}" dt="2026-08-26T06:38:56.755" v="12" actId="1076"/>
      <pc:docMkLst>
        <pc:docMk/>
      </pc:docMkLst>
      <pc:sldChg chg="modSp mod">
        <pc:chgData name="Rajaram, Balaji" userId="ef3de614-10a3-4ba9-80dc-e89bcc86f5f4" providerId="ADAL" clId="{7C535360-BD65-42DA-BD95-1E44F351206F}" dt="2026-08-12T09:51:55.513" v="2" actId="20577"/>
        <pc:sldMkLst>
          <pc:docMk/>
          <pc:sldMk cId="0" sldId="256"/>
        </pc:sldMkLst>
        <pc:spChg chg="mod">
          <ac:chgData name="Rajaram, Balaji" userId="ef3de614-10a3-4ba9-80dc-e89bcc86f5f4" providerId="ADAL" clId="{7C535360-BD65-42DA-BD95-1E44F351206F}" dt="2026-08-12T09:51:55.513" v="2" actId="20577"/>
          <ac:spMkLst>
            <pc:docMk/>
            <pc:sldMk cId="0" sldId="256"/>
            <ac:spMk id="3" creationId="{00000000-0000-0000-0000-000000000000}"/>
          </ac:spMkLst>
        </pc:spChg>
      </pc:sldChg>
      <pc:sldChg chg="modSp mod">
        <pc:chgData name="Rajaram, Balaji" userId="ef3de614-10a3-4ba9-80dc-e89bcc86f5f4" providerId="ADAL" clId="{7C535360-BD65-42DA-BD95-1E44F351206F}" dt="2026-08-13T08:30:15.620" v="10" actId="20577"/>
        <pc:sldMkLst>
          <pc:docMk/>
          <pc:sldMk cId="0" sldId="257"/>
        </pc:sldMkLst>
        <pc:spChg chg="mod">
          <ac:chgData name="Rajaram, Balaji" userId="ef3de614-10a3-4ba9-80dc-e89bcc86f5f4" providerId="ADAL" clId="{7C535360-BD65-42DA-BD95-1E44F351206F}" dt="2026-08-13T08:30:15.620" v="10" actId="20577"/>
          <ac:spMkLst>
            <pc:docMk/>
            <pc:sldMk cId="0" sldId="257"/>
            <ac:spMk id="3" creationId="{00000000-0000-0000-0000-000000000000}"/>
          </ac:spMkLst>
        </pc:spChg>
      </pc:sldChg>
      <pc:sldChg chg="modSp mod">
        <pc:chgData name="Rajaram, Balaji" userId="ef3de614-10a3-4ba9-80dc-e89bcc86f5f4" providerId="ADAL" clId="{7C535360-BD65-42DA-BD95-1E44F351206F}" dt="2026-08-13T08:30:08.900" v="6" actId="20577"/>
        <pc:sldMkLst>
          <pc:docMk/>
          <pc:sldMk cId="0" sldId="258"/>
        </pc:sldMkLst>
        <pc:spChg chg="mod">
          <ac:chgData name="Rajaram, Balaji" userId="ef3de614-10a3-4ba9-80dc-e89bcc86f5f4" providerId="ADAL" clId="{7C535360-BD65-42DA-BD95-1E44F351206F}" dt="2026-08-13T08:30:08.900" v="6" actId="20577"/>
          <ac:spMkLst>
            <pc:docMk/>
            <pc:sldMk cId="0" sldId="258"/>
            <ac:spMk id="3" creationId="{00000000-0000-0000-0000-000000000000}"/>
          </ac:spMkLst>
        </pc:spChg>
      </pc:sldChg>
      <pc:sldChg chg="modSp mod">
        <pc:chgData name="Rajaram, Balaji" userId="ef3de614-10a3-4ba9-80dc-e89bcc86f5f4" providerId="ADAL" clId="{7C535360-BD65-42DA-BD95-1E44F351206F}" dt="2026-08-26T06:38:56.755" v="12" actId="1076"/>
        <pc:sldMkLst>
          <pc:docMk/>
          <pc:sldMk cId="0" sldId="259"/>
        </pc:sldMkLst>
        <pc:picChg chg="mod">
          <ac:chgData name="Rajaram, Balaji" userId="ef3de614-10a3-4ba9-80dc-e89bcc86f5f4" providerId="ADAL" clId="{7C535360-BD65-42DA-BD95-1E44F351206F}" dt="2026-08-26T06:38:56.755" v="12" actId="1076"/>
          <ac:picMkLst>
            <pc:docMk/>
            <pc:sldMk cId="0" sldId="259"/>
            <ac:picMk id="3"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194560"/>
            <a:ext cx="10698480" cy="1477328"/>
          </a:xfrm>
          <a:prstGeom prst="rect">
            <a:avLst/>
          </a:prstGeom>
          <a:noFill/>
        </p:spPr>
        <p:txBody>
          <a:bodyPr wrap="square">
            <a:spAutoFit/>
          </a:bodyPr>
          <a:lstStyle/>
          <a:p>
            <a:pPr>
              <a:defRPr sz="5200" b="1">
                <a:solidFill>
                  <a:srgbClr val="FFFFFF"/>
                </a:solidFill>
              </a:defRPr>
            </a:pPr>
            <a:r>
              <a:rPr dirty="0"/>
              <a:t>Auto HSD </a:t>
            </a:r>
            <a:r>
              <a:rPr dirty="0" err="1"/>
              <a:t>Analyser</a:t>
            </a:r>
            <a:endParaRPr dirty="0"/>
          </a:p>
          <a:p>
            <a:pPr>
              <a:defRPr sz="2200">
                <a:solidFill>
                  <a:srgbClr val="9FC3E8"/>
                </a:solidFill>
              </a:defRPr>
            </a:pPr>
            <a:r>
              <a:rPr dirty="0"/>
              <a:t>Automated, engineer-grade HSD triage for Intel server platforms</a:t>
            </a:r>
          </a:p>
          <a:p>
            <a:pPr>
              <a:defRPr sz="1600">
                <a:solidFill>
                  <a:srgbClr val="C9D6EA"/>
                </a:solidFill>
              </a:defRPr>
            </a:pPr>
            <a:r>
              <a:rPr dirty="0"/>
              <a:t>Read · Decode · Correlate · Report </a:t>
            </a:r>
            <a:r>
              <a:t>· Learn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457200" rtlCol="0" anchor="ctr"/>
          <a:lstStyle/>
          <a:p>
            <a:pPr algn="ctr">
              <a:defRPr sz="3000" b="1">
                <a:solidFill>
                  <a:srgbClr val="FFFFFF"/>
                </a:solidFill>
              </a:defRPr>
            </a:pPr>
            <a:r>
              <a:t>The Problem</a:t>
            </a:r>
          </a:p>
          <a:p>
            <a:pPr>
              <a:defRPr sz="1300">
                <a:solidFill>
                  <a:srgbClr val="C9D6EA"/>
                </a:solidFill>
              </a:defRPr>
            </a:pPr>
            <a:r>
              <a:t>HSD triage is slow, manual and inconsistent</a:t>
            </a:r>
          </a:p>
        </p:txBody>
      </p:sp>
      <p:sp>
        <p:nvSpPr>
          <p:cNvPr id="3" name="TextBox 2"/>
          <p:cNvSpPr txBox="1"/>
          <p:nvPr/>
        </p:nvSpPr>
        <p:spPr>
          <a:xfrm>
            <a:off x="640080" y="1371600"/>
            <a:ext cx="10972800" cy="3734356"/>
          </a:xfrm>
          <a:prstGeom prst="rect">
            <a:avLst/>
          </a:prstGeom>
          <a:noFill/>
        </p:spPr>
        <p:txBody>
          <a:bodyPr wrap="square">
            <a:spAutoFit/>
          </a:bodyPr>
          <a:lstStyle/>
          <a:p>
            <a:pPr>
              <a:spcAft>
                <a:spcPts val="700"/>
              </a:spcAft>
              <a:defRPr sz="1900">
                <a:solidFill>
                  <a:srgbClr val="1B2A4A"/>
                </a:solidFill>
              </a:defRPr>
            </a:pPr>
            <a:r>
              <a:rPr dirty="0"/>
              <a:t>Every HSD means reading the whole comment thread, opening SOL / </a:t>
            </a:r>
            <a:r>
              <a:rPr dirty="0" err="1"/>
              <a:t>PythonSV</a:t>
            </a:r>
            <a:r>
              <a:rPr dirty="0"/>
              <a:t> / POST logs, and decoding raw error codes by hand.</a:t>
            </a:r>
          </a:p>
          <a:p>
            <a:pPr>
              <a:spcAft>
                <a:spcPts val="700"/>
              </a:spcAft>
              <a:defRPr sz="1900">
                <a:solidFill>
                  <a:srgbClr val="1B2A4A"/>
                </a:solidFill>
              </a:defRPr>
            </a:pPr>
            <a:endParaRPr lang="en-US" dirty="0"/>
          </a:p>
          <a:p>
            <a:pPr>
              <a:spcAft>
                <a:spcPts val="700"/>
              </a:spcAft>
              <a:defRPr sz="1900">
                <a:solidFill>
                  <a:srgbClr val="1B2A4A"/>
                </a:solidFill>
              </a:defRPr>
            </a:pPr>
            <a:r>
              <a:rPr dirty="0"/>
              <a:t>Decisive evidence is buried — register values, repro steps, experiment matrices, the converged root cause.</a:t>
            </a:r>
          </a:p>
          <a:p>
            <a:pPr>
              <a:spcAft>
                <a:spcPts val="700"/>
              </a:spcAft>
              <a:defRPr sz="1900">
                <a:solidFill>
                  <a:srgbClr val="1B2A4A"/>
                </a:solidFill>
              </a:defRPr>
            </a:pPr>
            <a:endParaRPr lang="en-US" dirty="0"/>
          </a:p>
          <a:p>
            <a:pPr>
              <a:spcAft>
                <a:spcPts val="700"/>
              </a:spcAft>
              <a:defRPr sz="1900">
                <a:solidFill>
                  <a:srgbClr val="1B2A4A"/>
                </a:solidFill>
              </a:defRPr>
            </a:pPr>
            <a:r>
              <a:rPr dirty="0"/>
              <a:t>Verbose serial logs are full of incidental noise (WHEA / MCA / PCIe) that hides the real failure.</a:t>
            </a:r>
          </a:p>
          <a:p>
            <a:pPr>
              <a:spcAft>
                <a:spcPts val="700"/>
              </a:spcAft>
              <a:defRPr sz="1900">
                <a:solidFill>
                  <a:srgbClr val="1B2A4A"/>
                </a:solidFill>
              </a:defRPr>
            </a:pPr>
            <a:endParaRPr lang="en-US" dirty="0"/>
          </a:p>
          <a:p>
            <a:pPr>
              <a:spcAft>
                <a:spcPts val="700"/>
              </a:spcAft>
              <a:defRPr sz="1900">
                <a:solidFill>
                  <a:srgbClr val="1B2A4A"/>
                </a:solidFill>
              </a:defRPr>
            </a:pPr>
            <a:r>
              <a:rPr dirty="0"/>
              <a:t>Past-ticket knowledge lives in people's heads, not in a searchable, reusable form.</a:t>
            </a:r>
          </a:p>
          <a:p>
            <a:pPr>
              <a:spcAft>
                <a:spcPts val="700"/>
              </a:spcAft>
              <a:defRPr sz="1900">
                <a:solidFill>
                  <a:srgbClr val="1B2A4A"/>
                </a:solidFill>
              </a:defRPr>
            </a:pPr>
            <a:endParaRPr lang="en-US" dirty="0"/>
          </a:p>
          <a:p>
            <a:pPr>
              <a:spcAft>
                <a:spcPts val="700"/>
              </a:spcAft>
              <a:defRPr sz="1900">
                <a:solidFill>
                  <a:srgbClr val="1B2A4A"/>
                </a:solidFill>
              </a:defRPr>
            </a:pPr>
            <a:r>
              <a:rPr dirty="0"/>
              <a:t>Net: hours per ticket, uneven quality, and re-investigation of already-solved issues.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457200" rtlCol="0" anchor="ctr"/>
          <a:lstStyle/>
          <a:p>
            <a:pPr algn="ctr">
              <a:defRPr sz="3000" b="1">
                <a:solidFill>
                  <a:srgbClr val="FFFFFF"/>
                </a:solidFill>
              </a:defRPr>
            </a:pPr>
            <a:r>
              <a:t>What It Does</a:t>
            </a:r>
          </a:p>
          <a:p>
            <a:pPr>
              <a:defRPr sz="1300">
                <a:solidFill>
                  <a:srgbClr val="C9D6EA"/>
                </a:solidFill>
              </a:defRPr>
            </a:pPr>
            <a:r>
              <a:t>One HSD ID in → a structured root-cause triage out</a:t>
            </a:r>
          </a:p>
        </p:txBody>
      </p:sp>
      <p:sp>
        <p:nvSpPr>
          <p:cNvPr id="3" name="TextBox 2"/>
          <p:cNvSpPr txBox="1"/>
          <p:nvPr/>
        </p:nvSpPr>
        <p:spPr>
          <a:xfrm>
            <a:off x="640080" y="1371600"/>
            <a:ext cx="10972800" cy="4026743"/>
          </a:xfrm>
          <a:prstGeom prst="rect">
            <a:avLst/>
          </a:prstGeom>
          <a:noFill/>
        </p:spPr>
        <p:txBody>
          <a:bodyPr wrap="square">
            <a:spAutoFit/>
          </a:bodyPr>
          <a:lstStyle/>
          <a:p>
            <a:pPr>
              <a:spcAft>
                <a:spcPts val="700"/>
              </a:spcAft>
              <a:defRPr sz="1900">
                <a:solidFill>
                  <a:srgbClr val="1B2A4A"/>
                </a:solidFill>
              </a:defRPr>
            </a:pPr>
            <a:r>
              <a:rPr dirty="0"/>
              <a:t>READ — pulls the full ticket over Kerberos SSO: title, description, entire comment thread, attachments.</a:t>
            </a:r>
          </a:p>
          <a:p>
            <a:pPr>
              <a:spcAft>
                <a:spcPts val="700"/>
              </a:spcAft>
              <a:defRPr sz="1900">
                <a:solidFill>
                  <a:srgbClr val="1B2A4A"/>
                </a:solidFill>
              </a:defRPr>
            </a:pPr>
            <a:endParaRPr lang="en-US" dirty="0"/>
          </a:p>
          <a:p>
            <a:pPr>
              <a:spcAft>
                <a:spcPts val="700"/>
              </a:spcAft>
              <a:defRPr sz="1900">
                <a:solidFill>
                  <a:srgbClr val="1B2A4A"/>
                </a:solidFill>
              </a:defRPr>
            </a:pPr>
            <a:r>
              <a:rPr dirty="0"/>
              <a:t>DECODE — scans SOL / </a:t>
            </a:r>
            <a:r>
              <a:rPr dirty="0" err="1"/>
              <a:t>PythonSV</a:t>
            </a:r>
            <a:r>
              <a:rPr dirty="0"/>
              <a:t> / POST logs; decodes MCE/MCA (MCACOD · MSCOD), EWL, RC-Fatal, MCHECK, POST; pulls Axon </a:t>
            </a:r>
            <a:r>
              <a:rPr dirty="0" err="1"/>
              <a:t>SVTools</a:t>
            </a:r>
            <a:r>
              <a:rPr dirty="0"/>
              <a:t> signatures.</a:t>
            </a:r>
          </a:p>
          <a:p>
            <a:pPr>
              <a:spcAft>
                <a:spcPts val="700"/>
              </a:spcAft>
              <a:defRPr sz="1900">
                <a:solidFill>
                  <a:srgbClr val="1B2A4A"/>
                </a:solidFill>
              </a:defRPr>
            </a:pPr>
            <a:endParaRPr lang="en-US" dirty="0"/>
          </a:p>
          <a:p>
            <a:pPr>
              <a:spcAft>
                <a:spcPts val="700"/>
              </a:spcAft>
              <a:defRPr sz="1900">
                <a:solidFill>
                  <a:srgbClr val="1B2A4A"/>
                </a:solidFill>
              </a:defRPr>
            </a:pPr>
            <a:r>
              <a:rPr dirty="0"/>
              <a:t>CORRELATE — reconstructs the investigation, converges on the root cause, separates the real failure from log noise.</a:t>
            </a:r>
          </a:p>
          <a:p>
            <a:pPr>
              <a:spcAft>
                <a:spcPts val="700"/>
              </a:spcAft>
              <a:defRPr sz="1900">
                <a:solidFill>
                  <a:srgbClr val="1B2A4A"/>
                </a:solidFill>
              </a:defRPr>
            </a:pPr>
            <a:endParaRPr lang="en-US" dirty="0"/>
          </a:p>
          <a:p>
            <a:pPr>
              <a:spcAft>
                <a:spcPts val="700"/>
              </a:spcAft>
              <a:defRPr sz="1900">
                <a:solidFill>
                  <a:srgbClr val="1B2A4A"/>
                </a:solidFill>
              </a:defRPr>
            </a:pPr>
            <a:r>
              <a:rPr dirty="0"/>
              <a:t>REPORT — clean Markdown + HTML triage: debug summary, timeline, findings, root cause, next actions.</a:t>
            </a:r>
          </a:p>
          <a:p>
            <a:pPr>
              <a:spcAft>
                <a:spcPts val="700"/>
              </a:spcAft>
              <a:defRPr sz="1900">
                <a:solidFill>
                  <a:srgbClr val="1B2A4A"/>
                </a:solidFill>
              </a:defRPr>
            </a:pPr>
            <a:endParaRPr lang="en-US" dirty="0"/>
          </a:p>
          <a:p>
            <a:pPr>
              <a:spcAft>
                <a:spcPts val="700"/>
              </a:spcAft>
              <a:defRPr sz="1900">
                <a:solidFill>
                  <a:srgbClr val="1B2A4A"/>
                </a:solidFill>
              </a:defRPr>
            </a:pPr>
            <a:r>
              <a:rPr dirty="0"/>
              <a:t>LEARN — writes every ticket into a self-learning Knowledge Base; recall improves over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457200" rtlCol="0" anchor="ctr"/>
          <a:lstStyle/>
          <a:p>
            <a:pPr algn="ctr">
              <a:defRPr sz="3000" b="1">
                <a:solidFill>
                  <a:srgbClr val="FFFFFF"/>
                </a:solidFill>
              </a:defRPr>
            </a:pPr>
            <a:r>
              <a:t>How It Works</a:t>
            </a:r>
          </a:p>
          <a:p>
            <a:pPr>
              <a:defRPr sz="1300">
                <a:solidFill>
                  <a:srgbClr val="C9D6EA"/>
                </a:solidFill>
              </a:defRPr>
            </a:pPr>
            <a:r>
              <a:t>End-to-end data flow</a:t>
            </a:r>
          </a:p>
        </p:txBody>
      </p:sp>
      <p:pic>
        <p:nvPicPr>
          <p:cNvPr id="3" name="Picture 2" descr="auto_hsd_analyser_flow.png"/>
          <p:cNvPicPr>
            <a:picLocks noChangeAspect="1"/>
          </p:cNvPicPr>
          <p:nvPr/>
        </p:nvPicPr>
        <p:blipFill>
          <a:blip r:embed="rId2"/>
          <a:stretch>
            <a:fillRect/>
          </a:stretch>
        </p:blipFill>
        <p:spPr>
          <a:xfrm>
            <a:off x="174260" y="1149774"/>
            <a:ext cx="11521440" cy="651662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457200" rtlCol="0" anchor="ctr"/>
          <a:lstStyle/>
          <a:p>
            <a:pPr algn="ctr">
              <a:defRPr sz="3000" b="1">
                <a:solidFill>
                  <a:srgbClr val="FFFFFF"/>
                </a:solidFill>
              </a:defRPr>
            </a:pPr>
            <a:r>
              <a:t>How It Finds the Root Cause</a:t>
            </a:r>
          </a:p>
          <a:p>
            <a:pPr>
              <a:defRPr sz="1300">
                <a:solidFill>
                  <a:srgbClr val="C9D6EA"/>
                </a:solidFill>
              </a:defRPr>
            </a:pPr>
            <a:r>
              <a:t>Two paths — it always returns an answer</a:t>
            </a:r>
          </a:p>
        </p:txBody>
      </p:sp>
      <p:sp>
        <p:nvSpPr>
          <p:cNvPr id="3" name="Rounded Rectangle 2"/>
          <p:cNvSpPr/>
          <p:nvPr/>
        </p:nvSpPr>
        <p:spPr>
          <a:xfrm>
            <a:off x="502920" y="1554480"/>
            <a:ext cx="5394960" cy="4297680"/>
          </a:xfrm>
          <a:prstGeom prst="roundRect">
            <a:avLst/>
          </a:prstGeom>
          <a:solidFill>
            <a:srgbClr val="F2F6FB"/>
          </a:solidFill>
          <a:ln w="19050">
            <a:solidFill>
              <a:srgbClr val="0068B5"/>
            </a:solidFill>
          </a:ln>
        </p:spPr>
        <p:style>
          <a:lnRef idx="1">
            <a:schemeClr val="accent1"/>
          </a:lnRef>
          <a:fillRef idx="3">
            <a:schemeClr val="accent1"/>
          </a:fillRef>
          <a:effectRef idx="2">
            <a:schemeClr val="accent1"/>
          </a:effectRef>
          <a:fontRef idx="minor">
            <a:schemeClr val="lt1"/>
          </a:fontRef>
        </p:style>
        <p:txBody>
          <a:bodyPr wrap="square" lIns="256032" tIns="201168" rIns="201168" rtlCol="0" anchor="ctr"/>
          <a:lstStyle/>
          <a:p>
            <a:pPr algn="ctr">
              <a:spcAft>
                <a:spcPts val="600"/>
              </a:spcAft>
              <a:defRPr sz="1800" b="1">
                <a:solidFill>
                  <a:srgbClr val="0068B5"/>
                </a:solidFill>
              </a:defRPr>
            </a:pPr>
            <a:r>
              <a:t>A · When engineers have investigated</a:t>
            </a:r>
          </a:p>
          <a:p>
            <a:pPr>
              <a:spcBef>
                <a:spcPts val="700"/>
              </a:spcBef>
              <a:defRPr sz="1450">
                <a:solidFill>
                  <a:srgbClr val="445566"/>
                </a:solidFill>
              </a:defRPr>
            </a:pPr>
            <a:r>
              <a:t>•  Reconstructs the comment thread in order.</a:t>
            </a:r>
          </a:p>
          <a:p>
            <a:pPr>
              <a:spcBef>
                <a:spcPts val="700"/>
              </a:spcBef>
              <a:defRPr sz="1450">
                <a:solidFill>
                  <a:srgbClr val="445566"/>
                </a:solidFill>
              </a:defRPr>
            </a:pPr>
            <a:r>
              <a:t>•  Reports the team's converged root cause, verbatim.</a:t>
            </a:r>
          </a:p>
          <a:p>
            <a:pPr>
              <a:spcBef>
                <a:spcPts val="700"/>
              </a:spcBef>
              <a:defRPr sz="1450">
                <a:solidFill>
                  <a:srgbClr val="445566"/>
                </a:solidFill>
              </a:defRPr>
            </a:pPr>
            <a:r>
              <a:t>•  Cites who said it + how proven (hypothesis vs confirmed).</a:t>
            </a:r>
          </a:p>
          <a:p>
            <a:pPr>
              <a:spcBef>
                <a:spcPts val="700"/>
              </a:spcBef>
              <a:defRPr sz="1450">
                <a:solidFill>
                  <a:srgbClr val="445566"/>
                </a:solidFill>
              </a:defRPr>
            </a:pPr>
            <a:r>
              <a:t>•  Surfaces the decisive register / experiment evidence.</a:t>
            </a:r>
          </a:p>
        </p:txBody>
      </p:sp>
      <p:sp>
        <p:nvSpPr>
          <p:cNvPr id="4" name="Rounded Rectangle 3"/>
          <p:cNvSpPr/>
          <p:nvPr/>
        </p:nvSpPr>
        <p:spPr>
          <a:xfrm>
            <a:off x="6309360" y="1554480"/>
            <a:ext cx="5394960" cy="4297680"/>
          </a:xfrm>
          <a:prstGeom prst="roundRect">
            <a:avLst/>
          </a:prstGeom>
          <a:solidFill>
            <a:srgbClr val="F2F6FB"/>
          </a:solidFill>
          <a:ln w="19050">
            <a:solidFill>
              <a:srgbClr val="00857D"/>
            </a:solidFill>
          </a:ln>
        </p:spPr>
        <p:style>
          <a:lnRef idx="1">
            <a:schemeClr val="accent1"/>
          </a:lnRef>
          <a:fillRef idx="3">
            <a:schemeClr val="accent1"/>
          </a:fillRef>
          <a:effectRef idx="2">
            <a:schemeClr val="accent1"/>
          </a:effectRef>
          <a:fontRef idx="minor">
            <a:schemeClr val="lt1"/>
          </a:fontRef>
        </p:style>
        <p:txBody>
          <a:bodyPr wrap="square" lIns="256032" tIns="201168" rIns="201168" rtlCol="0" anchor="ctr"/>
          <a:lstStyle/>
          <a:p>
            <a:pPr algn="ctr">
              <a:spcAft>
                <a:spcPts val="600"/>
              </a:spcAft>
              <a:defRPr sz="1800" b="1">
                <a:solidFill>
                  <a:srgbClr val="00857D"/>
                </a:solidFill>
              </a:defRPr>
            </a:pPr>
            <a:r>
              <a:rPr dirty="0"/>
              <a:t>B · When there are no comments</a:t>
            </a:r>
          </a:p>
          <a:p>
            <a:pPr>
              <a:spcBef>
                <a:spcPts val="700"/>
              </a:spcBef>
              <a:defRPr sz="1450">
                <a:solidFill>
                  <a:srgbClr val="445566"/>
                </a:solidFill>
              </a:defRPr>
            </a:pPr>
            <a:r>
              <a:rPr dirty="0"/>
              <a:t>•  Analyses the attached logs end-to-end.</a:t>
            </a:r>
          </a:p>
          <a:p>
            <a:pPr>
              <a:spcBef>
                <a:spcPts val="700"/>
              </a:spcBef>
              <a:defRPr sz="1450">
                <a:solidFill>
                  <a:srgbClr val="445566"/>
                </a:solidFill>
              </a:defRPr>
            </a:pPr>
            <a:r>
              <a:rPr dirty="0"/>
              <a:t>•  Decodes MCE / MCA codes → bank, IP, error class.</a:t>
            </a:r>
          </a:p>
          <a:p>
            <a:pPr>
              <a:spcBef>
                <a:spcPts val="700"/>
              </a:spcBef>
              <a:defRPr sz="1450">
                <a:solidFill>
                  <a:srgbClr val="445566"/>
                </a:solidFill>
              </a:defRPr>
            </a:pPr>
            <a:r>
              <a:rPr dirty="0"/>
              <a:t>•  Folds in Axon </a:t>
            </a:r>
            <a:r>
              <a:rPr dirty="0" err="1"/>
              <a:t>SVTools</a:t>
            </a:r>
            <a:r>
              <a:rPr dirty="0"/>
              <a:t> failure signatures.</a:t>
            </a:r>
          </a:p>
          <a:p>
            <a:pPr>
              <a:spcBef>
                <a:spcPts val="700"/>
              </a:spcBef>
              <a:defRPr sz="1450">
                <a:solidFill>
                  <a:srgbClr val="445566"/>
                </a:solidFill>
              </a:defRPr>
            </a:pPr>
            <a:r>
              <a:rPr dirty="0"/>
              <a:t>•  Proposes an evidence-based hypothesis + data to confirm.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457200" rtlCol="0" anchor="ctr"/>
          <a:lstStyle/>
          <a:p>
            <a:pPr algn="ctr">
              <a:defRPr sz="3000" b="1">
                <a:solidFill>
                  <a:srgbClr val="FFFFFF"/>
                </a:solidFill>
              </a:defRPr>
            </a:pPr>
            <a:r>
              <a:t>Key Capabilities</a:t>
            </a:r>
          </a:p>
          <a:p>
            <a:pPr>
              <a:defRPr sz="1300">
                <a:solidFill>
                  <a:srgbClr val="C9D6EA"/>
                </a:solidFill>
              </a:defRPr>
            </a:pPr>
            <a:r>
              <a:t>Reads like a human debug engineer</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700">
                <a:solidFill>
                  <a:srgbClr val="1B2A4A"/>
                </a:solidFill>
              </a:defRPr>
            </a:pPr>
            <a:r>
              <a:t>Comment-thread analyzer — rebuilds who observed / tried / concluded what, converges on the cause + disposition.</a:t>
            </a:r>
          </a:p>
          <a:p>
            <a:pPr>
              <a:spcAft>
                <a:spcPts val="700"/>
              </a:spcAft>
              <a:defRPr sz="1700">
                <a:solidFill>
                  <a:srgbClr val="1B2A4A"/>
                </a:solidFill>
              </a:defRPr>
            </a:pPr>
            <a:r>
              <a:t>Deep log decode — MCE/MCA (MCACOD · MSCOD → bank / IP / class), EWL, RC-Fatal, MCHECK, POST checkpoints, boot/stage progress.</a:t>
            </a:r>
          </a:p>
          <a:p>
            <a:pPr>
              <a:spcAft>
                <a:spcPts val="700"/>
              </a:spcAft>
              <a:defRPr sz="1700">
                <a:solidFill>
                  <a:srgbClr val="1B2A4A"/>
                </a:solidFill>
              </a:defRPr>
            </a:pPr>
            <a:r>
              <a:t>Axon integration — pulls linked recordings and their SVTools failure signatures as precise corroborating evidence.</a:t>
            </a:r>
          </a:p>
          <a:p>
            <a:pPr>
              <a:spcAft>
                <a:spcPts val="700"/>
              </a:spcAft>
              <a:defRPr sz="1700">
                <a:solidFill>
                  <a:srgbClr val="1B2A4A"/>
                </a:solidFill>
              </a:defRPr>
            </a:pPr>
            <a:r>
              <a:t>Signal-vs-noise ranking — flags incidental WHEA / MCA / PCIe telemetry so the real failure leads.</a:t>
            </a:r>
          </a:p>
          <a:p>
            <a:pPr>
              <a:spcAft>
                <a:spcPts val="700"/>
              </a:spcAft>
              <a:defRPr sz="1700">
                <a:solidFill>
                  <a:srgbClr val="1B2A4A"/>
                </a:solidFill>
              </a:defRPr>
            </a:pPr>
            <a:r>
              <a:t>Deterministic OFFLINE mode — full report with zero LLM dependency; optional LLM adds prose.</a:t>
            </a:r>
          </a:p>
          <a:p>
            <a:pPr>
              <a:spcAft>
                <a:spcPts val="700"/>
              </a:spcAft>
              <a:defRPr sz="1700">
                <a:solidFill>
                  <a:srgbClr val="1B2A4A"/>
                </a:solidFill>
              </a:defRPr>
            </a:pPr>
            <a:r>
              <a:t>Self-learning KB — recalls similar past HSDs with their root cause and fix.</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457200" rtlCol="0" anchor="ctr"/>
          <a:lstStyle/>
          <a:p>
            <a:pPr algn="ctr">
              <a:defRPr sz="3000" b="1">
                <a:solidFill>
                  <a:srgbClr val="FFFFFF"/>
                </a:solidFill>
              </a:defRPr>
            </a:pPr>
            <a:r>
              <a:t>Anatomy of a Report</a:t>
            </a:r>
          </a:p>
          <a:p>
            <a:pPr>
              <a:defRPr sz="1300">
                <a:solidFill>
                  <a:srgbClr val="C9D6EA"/>
                </a:solidFill>
              </a:defRPr>
            </a:pPr>
            <a:r>
              <a:t>What your manager will see</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800">
                <a:solidFill>
                  <a:srgbClr val="1B2A4A"/>
                </a:solidFill>
              </a:defRPr>
            </a:pPr>
            <a:r>
              <a:t>Debug Summary — RESULT, boot/stage progress, metrics, hypothesis, conclusion, next actions.</a:t>
            </a:r>
          </a:p>
          <a:p>
            <a:pPr>
              <a:spcAft>
                <a:spcPts val="700"/>
              </a:spcAft>
              <a:defRPr sz="1800">
                <a:solidFill>
                  <a:srgbClr val="1B2A4A"/>
                </a:solidFill>
              </a:defRPr>
            </a:pPr>
            <a:r>
              <a:t>Investigation Summary — compact timeline, key evidence, converged root cause, disposition.</a:t>
            </a:r>
          </a:p>
          <a:p>
            <a:pPr>
              <a:spcAft>
                <a:spcPts val="700"/>
              </a:spcAft>
              <a:defRPr sz="1800">
                <a:solidFill>
                  <a:srgbClr val="1B2A4A"/>
                </a:solidFill>
              </a:defRPr>
            </a:pPr>
            <a:r>
              <a:t>Findings — failure signatures (noise flagged), decoded MCA / BIOS / POST, confidence score.</a:t>
            </a:r>
          </a:p>
          <a:p>
            <a:pPr>
              <a:spcAft>
                <a:spcPts val="700"/>
              </a:spcAft>
              <a:defRPr sz="1800">
                <a:solidFill>
                  <a:srgbClr val="1B2A4A"/>
                </a:solidFill>
              </a:defRPr>
            </a:pPr>
            <a:r>
              <a:t>Root Cause + Validation — verdict, provenance, and what's needed to confirm it.</a:t>
            </a:r>
          </a:p>
          <a:p>
            <a:pPr>
              <a:spcAft>
                <a:spcPts val="700"/>
              </a:spcAft>
              <a:defRPr sz="1800">
                <a:solidFill>
                  <a:srgbClr val="1B2A4A"/>
                </a:solidFill>
              </a:defRPr>
            </a:pPr>
            <a:r>
              <a:t>Next Actions — targeted checks + PythonSV / rdmsr commands to close it out.</a:t>
            </a:r>
          </a:p>
          <a:p>
            <a:pPr>
              <a:spcAft>
                <a:spcPts val="700"/>
              </a:spcAft>
              <a:defRPr sz="1800">
                <a:solidFill>
                  <a:srgbClr val="1B2A4A"/>
                </a:solidFill>
              </a:defRPr>
            </a:pPr>
            <a:r>
              <a:t>Appendix — full narrative, decoded log evidence, KB matches, similar HSDs.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457200" rtlCol="0" anchor="ctr"/>
          <a:lstStyle/>
          <a:p>
            <a:pPr algn="ctr">
              <a:defRPr sz="3000" b="1">
                <a:solidFill>
                  <a:srgbClr val="FFFFFF"/>
                </a:solidFill>
              </a:defRPr>
            </a:pPr>
            <a:r>
              <a:t>Live Demo</a:t>
            </a:r>
          </a:p>
          <a:p>
            <a:pPr>
              <a:defRPr sz="1300">
                <a:solidFill>
                  <a:srgbClr val="C9D6EA"/>
                </a:solidFill>
              </a:defRPr>
            </a:pPr>
            <a:r>
              <a:t>Sample: HSD 16031066261 — Warm Reset / GBLRST_CAUSE1</a:t>
            </a:r>
          </a:p>
        </p:txBody>
      </p:sp>
      <p:sp>
        <p:nvSpPr>
          <p:cNvPr id="3" name="TextBox 2"/>
          <p:cNvSpPr txBox="1"/>
          <p:nvPr/>
        </p:nvSpPr>
        <p:spPr>
          <a:xfrm>
            <a:off x="502920" y="1371600"/>
            <a:ext cx="4937760" cy="4937760"/>
          </a:xfrm>
          <a:prstGeom prst="rect">
            <a:avLst/>
          </a:prstGeom>
          <a:noFill/>
        </p:spPr>
        <p:txBody>
          <a:bodyPr wrap="square">
            <a:spAutoFit/>
          </a:bodyPr>
          <a:lstStyle/>
          <a:p>
            <a:pPr>
              <a:spcAft>
                <a:spcPts val="700"/>
              </a:spcAft>
              <a:defRPr sz="1500">
                <a:solidFill>
                  <a:srgbClr val="1B2A4A"/>
                </a:solidFill>
              </a:defRPr>
            </a:pPr>
            <a:r>
              <a:rPr dirty="0"/>
              <a:t>Root cause: S3M version mismatch (Base/Fit-loaded UP vs OSPL UP).</a:t>
            </a:r>
          </a:p>
          <a:p>
            <a:pPr>
              <a:spcAft>
                <a:spcPts val="700"/>
              </a:spcAft>
              <a:defRPr sz="1500">
                <a:solidFill>
                  <a:srgbClr val="1B2A4A"/>
                </a:solidFill>
              </a:defRPr>
            </a:pPr>
            <a:r>
              <a:rPr dirty="0"/>
              <a:t>Evidence: GBLRST_CAUSE1 = 0x4 (pass) vs 0x0 (fail) + 6-row experiment matrix.</a:t>
            </a:r>
          </a:p>
          <a:p>
            <a:pPr>
              <a:spcAft>
                <a:spcPts val="700"/>
              </a:spcAft>
              <a:defRPr sz="1500">
                <a:solidFill>
                  <a:srgbClr val="1B2A4A"/>
                </a:solidFill>
              </a:defRPr>
            </a:pPr>
            <a:r>
              <a:rPr dirty="0"/>
              <a:t>Noise flag: WHEA / MCA / PCIe marked incidental.</a:t>
            </a:r>
          </a:p>
          <a:p>
            <a:pPr>
              <a:spcAft>
                <a:spcPts val="700"/>
              </a:spcAft>
              <a:defRPr sz="1500">
                <a:solidFill>
                  <a:srgbClr val="1B2A4A"/>
                </a:solidFill>
              </a:defRPr>
            </a:pPr>
            <a:r>
              <a:rPr dirty="0"/>
              <a:t>Disposition: root-caused; handed to S3M team; ticket open.</a:t>
            </a:r>
          </a:p>
        </p:txBody>
      </p:sp>
      <p:pic>
        <p:nvPicPr>
          <p:cNvPr id="4" name="Picture 3" descr="report_screenshot.png"/>
          <p:cNvPicPr>
            <a:picLocks noChangeAspect="1"/>
          </p:cNvPicPr>
          <p:nvPr/>
        </p:nvPicPr>
        <p:blipFill>
          <a:blip r:embed="rId2"/>
          <a:stretch>
            <a:fillRect/>
          </a:stretch>
        </p:blipFill>
        <p:spPr>
          <a:xfrm>
            <a:off x="5623560" y="1325880"/>
            <a:ext cx="6126480" cy="488462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457200" rtlCol="0" anchor="ctr"/>
          <a:lstStyle/>
          <a:p>
            <a:pPr algn="ctr">
              <a:defRPr sz="3000" b="1">
                <a:solidFill>
                  <a:srgbClr val="FFFFFF"/>
                </a:solidFill>
              </a:defRPr>
            </a:pPr>
            <a:r>
              <a:t>Benefits &amp; Impact</a:t>
            </a:r>
          </a:p>
          <a:p>
            <a:pPr>
              <a:defRPr sz="1300">
                <a:solidFill>
                  <a:srgbClr val="C9D6EA"/>
                </a:solidFill>
              </a:defRPr>
            </a:pPr>
            <a:r>
              <a:t>≈ 2 min per ticket vs 2–4 hrs manual (illustrative estimate — tune to your data)</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700">
                <a:solidFill>
                  <a:srgbClr val="1B2A4A"/>
                </a:solidFill>
              </a:defRPr>
            </a:pPr>
            <a:r>
              <a:t>Faster — minutes vs hours per ticket; reading, decoding and correlation are automated.</a:t>
            </a:r>
          </a:p>
          <a:p>
            <a:pPr>
              <a:spcAft>
                <a:spcPts val="700"/>
              </a:spcAft>
              <a:defRPr sz="1700">
                <a:solidFill>
                  <a:srgbClr val="1B2A4A"/>
                </a:solidFill>
              </a:defRPr>
            </a:pPr>
            <a:r>
              <a:t>Consistent — engineer-grade output every time, independent of who runs it.</a:t>
            </a:r>
          </a:p>
          <a:p>
            <a:pPr>
              <a:spcAft>
                <a:spcPts val="700"/>
              </a:spcAft>
              <a:defRPr sz="1700">
                <a:solidFill>
                  <a:srgbClr val="1B2A4A"/>
                </a:solidFill>
              </a:defRPr>
            </a:pPr>
            <a:r>
              <a:t>Complete — decisive register / MCA / experiment evidence surfaced automatically, nothing missed.</a:t>
            </a:r>
          </a:p>
          <a:p>
            <a:pPr>
              <a:spcAft>
                <a:spcPts val="700"/>
              </a:spcAft>
              <a:defRPr sz="1700">
                <a:solidFill>
                  <a:srgbClr val="1B2A4A"/>
                </a:solidFill>
              </a:defRPr>
            </a:pPr>
            <a:r>
              <a:t>Always answers — cites the team's cause, or proposes one from logs + MCE/MCA + Axon.</a:t>
            </a:r>
          </a:p>
          <a:p>
            <a:pPr>
              <a:spcAft>
                <a:spcPts val="700"/>
              </a:spcAft>
              <a:defRPr sz="1700">
                <a:solidFill>
                  <a:srgbClr val="1B2A4A"/>
                </a:solidFill>
              </a:defRPr>
            </a:pPr>
            <a:r>
              <a:t>Secure — Kerberos SSO, runs locally on any Intel-domain Windows machine.</a:t>
            </a:r>
          </a:p>
          <a:p>
            <a:pPr>
              <a:spcAft>
                <a:spcPts val="700"/>
              </a:spcAft>
              <a:defRPr sz="1700">
                <a:solidFill>
                  <a:srgbClr val="1B2A4A"/>
                </a:solidFill>
              </a:defRPr>
            </a:pPr>
            <a:r>
              <a:t>Compounding — the Knowledge Base makes every future triage faster and smarter.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457200" rtlCol="0" anchor="ctr"/>
          <a:lstStyle/>
          <a:p>
            <a:pPr algn="ctr">
              <a:defRPr sz="3000" b="1">
                <a:solidFill>
                  <a:srgbClr val="FFFFFF"/>
                </a:solidFill>
              </a:defRPr>
            </a:pPr>
            <a:r>
              <a:t>Data Sources &amp; Provenance</a:t>
            </a:r>
          </a:p>
          <a:p>
            <a:pPr>
              <a:defRPr sz="1300">
                <a:solidFill>
                  <a:srgbClr val="C9D6EA"/>
                </a:solidFill>
              </a:defRPr>
            </a:pPr>
            <a:r>
              <a:t>Every fact in the report is traceable — nothing leaves the Intel network</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600">
                <a:solidFill>
                  <a:srgbClr val="1B2A4A"/>
                </a:solidFill>
              </a:defRPr>
            </a:pPr>
            <a:r>
              <a:t>Root cause &amp; investigation — the HSDES ticket itself: description + full comment thread, read live over Kerberos SSO and cited per author.</a:t>
            </a:r>
          </a:p>
          <a:p>
            <a:pPr>
              <a:spcAft>
                <a:spcPts val="700"/>
              </a:spcAft>
              <a:defRPr sz="1600">
                <a:solidFill>
                  <a:srgbClr val="1B2A4A"/>
                </a:solidFill>
              </a:defRPr>
            </a:pPr>
            <a:r>
              <a:t>Attached logs — SOL / PythonSV / POST logs from the HSDES attachments API, plus linked Axon recordings (SVTools failure signatures).</a:t>
            </a:r>
          </a:p>
          <a:p>
            <a:pPr>
              <a:spcAft>
                <a:spcPts val="700"/>
              </a:spcAft>
              <a:defRPr sz="1600">
                <a:solidFill>
                  <a:srgbClr val="1B2A4A"/>
                </a:solidFill>
              </a:defRPr>
            </a:pPr>
            <a:r>
              <a:t>Silicon MCE / MCA decode — bundled Intel decoder databases in app/decoders/, derived from Intel MCA / RAS customer documentation:</a:t>
            </a:r>
          </a:p>
          <a:p>
            <a:pPr lvl="1">
              <a:spcAft>
                <a:spcPts val="700"/>
              </a:spcAft>
              <a:defRPr sz="1300">
                <a:solidFill>
                  <a:srgbClr val="445566"/>
                </a:solidFill>
              </a:defRPr>
            </a:pPr>
            <a:r>
              <a:t>MCA 712 codes · MCHECK 496 · EWL 124 · RC-Fatal 50 · IPSD 28 · POST checkpoints (MCACOD / MSCOD → bank, IP, error class, action).</a:t>
            </a:r>
          </a:p>
          <a:p>
            <a:pPr>
              <a:spcAft>
                <a:spcPts val="700"/>
              </a:spcAft>
              <a:defRPr sz="1600">
                <a:solidFill>
                  <a:srgbClr val="1B2A4A"/>
                </a:solidFill>
              </a:defRPr>
            </a:pPr>
            <a:r>
              <a:t>Similar past issues &amp; fixes — HSDES search + a local self-learning Knowledge Base (kb/).</a:t>
            </a:r>
          </a:p>
          <a:p>
            <a:pPr>
              <a:spcAft>
                <a:spcPts val="700"/>
              </a:spcAft>
              <a:defRPr sz="1600">
                <a:solidFill>
                  <a:srgbClr val="1B2A4A"/>
                </a:solidFill>
              </a:defRPr>
            </a:pPr>
            <a:r>
              <a:t>All processing is local; the report labels each cause with its source and how proven it is.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457200" rtlCol="0" anchor="ctr"/>
          <a:lstStyle/>
          <a:p>
            <a:pPr algn="ctr">
              <a:defRPr sz="3000" b="1">
                <a:solidFill>
                  <a:srgbClr val="FFFFFF"/>
                </a:solidFill>
              </a:defRPr>
            </a:pPr>
            <a:r>
              <a:t>Roadmap</a:t>
            </a:r>
          </a:p>
        </p:txBody>
      </p:sp>
      <p:sp>
        <p:nvSpPr>
          <p:cNvPr id="3" name="TextBox 2"/>
          <p:cNvSpPr txBox="1"/>
          <p:nvPr/>
        </p:nvSpPr>
        <p:spPr>
          <a:xfrm>
            <a:off x="640080" y="1371600"/>
            <a:ext cx="10972800" cy="4937760"/>
          </a:xfrm>
          <a:prstGeom prst="rect">
            <a:avLst/>
          </a:prstGeom>
          <a:noFill/>
        </p:spPr>
        <p:txBody>
          <a:bodyPr wrap="square">
            <a:spAutoFit/>
          </a:bodyPr>
          <a:lstStyle/>
          <a:p>
            <a:pPr>
              <a:spcAft>
                <a:spcPts val="700"/>
              </a:spcAft>
              <a:defRPr sz="1800">
                <a:solidFill>
                  <a:srgbClr val="1B2A4A"/>
                </a:solidFill>
              </a:defRPr>
            </a:pPr>
            <a:r>
              <a:t>Broaden product coverage (DMR / COR) and seed the KB from more master queries.</a:t>
            </a:r>
          </a:p>
          <a:p>
            <a:pPr>
              <a:spcAft>
                <a:spcPts val="700"/>
              </a:spcAft>
              <a:defRPr sz="1800">
                <a:solidFill>
                  <a:srgbClr val="1B2A4A"/>
                </a:solidFill>
              </a:defRPr>
            </a:pPr>
            <a:r>
              <a:t>Deeper Axon / PythonSV automation and richer decoder databases.</a:t>
            </a:r>
          </a:p>
          <a:p>
            <a:pPr>
              <a:spcAft>
                <a:spcPts val="700"/>
              </a:spcAft>
              <a:defRPr sz="1800">
                <a:solidFill>
                  <a:srgbClr val="1B2A4A"/>
                </a:solidFill>
              </a:defRPr>
            </a:pPr>
            <a:r>
              <a:t>Optional LLM reasoning layer enabled by default where an endpoint is available.</a:t>
            </a:r>
          </a:p>
          <a:p>
            <a:pPr>
              <a:spcAft>
                <a:spcPts val="700"/>
              </a:spcAft>
              <a:defRPr sz="1800">
                <a:solidFill>
                  <a:srgbClr val="1B2A4A"/>
                </a:solidFill>
              </a:defRPr>
            </a:pPr>
            <a:r>
              <a:t>One-click ticket update: write the converged root cause back to the HSDES field.</a:t>
            </a:r>
          </a:p>
          <a:p>
            <a:pPr>
              <a:spcAft>
                <a:spcPts val="700"/>
              </a:spcAft>
              <a:defRPr sz="1800">
                <a:solidFill>
                  <a:srgbClr val="1B2A4A"/>
                </a:solidFill>
              </a:defRPr>
            </a:pPr>
            <a:r>
              <a:t>Team rollout + feedback loop to keep improving accuracy.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457200" rtlCol="0" anchor="ctr"/>
          <a:lstStyle/>
          <a:p>
            <a:pPr algn="ctr">
              <a:defRPr sz="3000" b="1">
                <a:solidFill>
                  <a:srgbClr val="FFFFFF"/>
                </a:solidFill>
              </a:defRPr>
            </a:pPr>
            <a:r>
              <a:t>Anticipated Questions (1 of 2)</a:t>
            </a:r>
          </a:p>
          <a:p>
            <a:pPr>
              <a:defRPr sz="1300">
                <a:solidFill>
                  <a:srgbClr val="C9D6EA"/>
                </a:solidFill>
              </a:defRPr>
            </a:pPr>
            <a:r>
              <a:t>Prepared answers for the demo</a:t>
            </a:r>
          </a:p>
        </p:txBody>
      </p:sp>
      <p:sp>
        <p:nvSpPr>
          <p:cNvPr id="3" name="TextBox 2"/>
          <p:cNvSpPr txBox="1"/>
          <p:nvPr/>
        </p:nvSpPr>
        <p:spPr>
          <a:xfrm>
            <a:off x="640080" y="1325880"/>
            <a:ext cx="10972800" cy="5120640"/>
          </a:xfrm>
          <a:prstGeom prst="rect">
            <a:avLst/>
          </a:prstGeom>
          <a:noFill/>
        </p:spPr>
        <p:txBody>
          <a:bodyPr wrap="square">
            <a:spAutoFit/>
          </a:bodyPr>
          <a:lstStyle/>
          <a:p>
            <a:pPr>
              <a:spcBef>
                <a:spcPts val="600"/>
              </a:spcBef>
              <a:spcAft>
                <a:spcPts val="200"/>
              </a:spcAft>
              <a:defRPr sz="1500" b="1">
                <a:solidFill>
                  <a:srgbClr val="0068B5"/>
                </a:solidFill>
              </a:defRPr>
            </a:pPr>
            <a:r>
              <a:t>Q:  Does any Intel data leave the network / go to an external AI?</a:t>
            </a:r>
          </a:p>
          <a:p>
            <a:pPr>
              <a:spcAft>
                <a:spcPts val="600"/>
              </a:spcAft>
              <a:defRPr sz="1400">
                <a:solidFill>
                  <a:srgbClr val="445566"/>
                </a:solidFill>
              </a:defRPr>
            </a:pPr>
            <a:r>
              <a:t>A:  No. It runs locally on your Intel-domain machine and talks only to HSDES. LLM reasoning is optional and off by default — the demo runs in deterministic OFFLINE mode.</a:t>
            </a:r>
          </a:p>
          <a:p>
            <a:pPr>
              <a:spcBef>
                <a:spcPts val="600"/>
              </a:spcBef>
              <a:spcAft>
                <a:spcPts val="200"/>
              </a:spcAft>
              <a:defRPr sz="1500" b="1">
                <a:solidFill>
                  <a:srgbClr val="0068B5"/>
                </a:solidFill>
              </a:defRPr>
            </a:pPr>
            <a:r>
              <a:t>Q:  How secure is authentication?</a:t>
            </a:r>
          </a:p>
          <a:p>
            <a:pPr>
              <a:spcAft>
                <a:spcPts val="600"/>
              </a:spcAft>
              <a:defRPr sz="1400">
                <a:solidFill>
                  <a:srgbClr val="445566"/>
                </a:solidFill>
              </a:defRPr>
            </a:pPr>
            <a:r>
              <a:t>A:  Kerberos SSO — it authenticates as you, with no password and no stored token. Any teammate on the Intel domain can run it as themselves.</a:t>
            </a:r>
          </a:p>
          <a:p>
            <a:pPr>
              <a:spcBef>
                <a:spcPts val="600"/>
              </a:spcBef>
              <a:spcAft>
                <a:spcPts val="200"/>
              </a:spcAft>
              <a:defRPr sz="1500" b="1">
                <a:solidFill>
                  <a:srgbClr val="0068B5"/>
                </a:solidFill>
              </a:defRPr>
            </a:pPr>
            <a:r>
              <a:t>Q:  Can we trust the root cause it reports?</a:t>
            </a:r>
          </a:p>
          <a:p>
            <a:pPr>
              <a:spcAft>
                <a:spcPts val="600"/>
              </a:spcAft>
              <a:defRPr sz="1400">
                <a:solidFill>
                  <a:srgbClr val="445566"/>
                </a:solidFill>
              </a:defRPr>
            </a:pPr>
            <a:r>
              <a:t>A:  Yes — it doesn't guess. It repeats the root cause the engineers actually wrote in the ticket, cites who said it, and labels how proven it is (e.g. 'unvalidated hypothesis' vs 'confirmed'). If no cause is stated, it says so instead of inventing one.</a:t>
            </a:r>
          </a:p>
          <a:p>
            <a:pPr>
              <a:spcBef>
                <a:spcPts val="600"/>
              </a:spcBef>
              <a:spcAft>
                <a:spcPts val="200"/>
              </a:spcAft>
              <a:defRPr sz="1500" b="1">
                <a:solidFill>
                  <a:srgbClr val="0068B5"/>
                </a:solidFill>
              </a:defRPr>
            </a:pPr>
            <a:r>
              <a:t>Q:  Does it modify or close the HSD ticket?</a:t>
            </a:r>
          </a:p>
          <a:p>
            <a:pPr>
              <a:spcAft>
                <a:spcPts val="600"/>
              </a:spcAft>
              <a:defRPr sz="1400">
                <a:solidFill>
                  <a:srgbClr val="445566"/>
                </a:solidFill>
              </a:defRPr>
            </a:pPr>
            <a:r>
              <a:t>A:  No — it is read-only today. Writing the root cause back to the HSDES field is on the roadmap as an explicit, opt-in action.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wrap="square" lIns="457200" rtlCol="0" anchor="ctr"/>
          <a:lstStyle/>
          <a:p>
            <a:pPr algn="ctr">
              <a:defRPr sz="3000" b="1">
                <a:solidFill>
                  <a:srgbClr val="FFFFFF"/>
                </a:solidFill>
              </a:defRPr>
            </a:pPr>
            <a:r>
              <a:t>Anticipated Questions (2 of 2)</a:t>
            </a:r>
          </a:p>
          <a:p>
            <a:pPr>
              <a:defRPr sz="1300">
                <a:solidFill>
                  <a:srgbClr val="C9D6EA"/>
                </a:solidFill>
              </a:defRPr>
            </a:pPr>
            <a:r>
              <a:t>Prepared answers for the demo</a:t>
            </a:r>
          </a:p>
        </p:txBody>
      </p:sp>
      <p:sp>
        <p:nvSpPr>
          <p:cNvPr id="3" name="TextBox 2"/>
          <p:cNvSpPr txBox="1"/>
          <p:nvPr/>
        </p:nvSpPr>
        <p:spPr>
          <a:xfrm>
            <a:off x="640080" y="1325880"/>
            <a:ext cx="10972800" cy="5120640"/>
          </a:xfrm>
          <a:prstGeom prst="rect">
            <a:avLst/>
          </a:prstGeom>
          <a:noFill/>
        </p:spPr>
        <p:txBody>
          <a:bodyPr wrap="square">
            <a:spAutoFit/>
          </a:bodyPr>
          <a:lstStyle/>
          <a:p>
            <a:pPr>
              <a:spcBef>
                <a:spcPts val="600"/>
              </a:spcBef>
              <a:spcAft>
                <a:spcPts val="200"/>
              </a:spcAft>
              <a:defRPr sz="1400" b="1">
                <a:solidFill>
                  <a:srgbClr val="0068B5"/>
                </a:solidFill>
              </a:defRPr>
            </a:pPr>
            <a:r>
              <a:t>Q:  How does it separate the real failure from log noise?</a:t>
            </a:r>
          </a:p>
          <a:p>
            <a:pPr>
              <a:spcAft>
                <a:spcPts val="600"/>
              </a:spcAft>
              <a:defRPr sz="1300">
                <a:solidFill>
                  <a:srgbClr val="445566"/>
                </a:solidFill>
              </a:defRPr>
            </a:pPr>
            <a:r>
              <a:t>A:  When the comment thread has converged on a cause, broad signatures (WHEA / MCA / PCIe) are explicitly flagged as incidental background telemetry, so the real failure leads.</a:t>
            </a:r>
          </a:p>
          <a:p>
            <a:pPr>
              <a:spcBef>
                <a:spcPts val="600"/>
              </a:spcBef>
              <a:spcAft>
                <a:spcPts val="200"/>
              </a:spcAft>
              <a:defRPr sz="1400" b="1">
                <a:solidFill>
                  <a:srgbClr val="0068B5"/>
                </a:solidFill>
              </a:defRPr>
            </a:pPr>
            <a:r>
              <a:t>Q:  What if the comments are thin or missing?</a:t>
            </a:r>
          </a:p>
          <a:p>
            <a:pPr>
              <a:spcAft>
                <a:spcPts val="600"/>
              </a:spcAft>
              <a:defRPr sz="1300">
                <a:solidFill>
                  <a:srgbClr val="445566"/>
                </a:solidFill>
              </a:defRPr>
            </a:pPr>
            <a:r>
              <a:t>A:  It falls back to decoded log evidence, boot/stage progress, MCA/BIOS/POST decode, and Knowledge-Base recall of similar past HSDs — you still get a structured triage.</a:t>
            </a:r>
          </a:p>
          <a:p>
            <a:pPr>
              <a:spcBef>
                <a:spcPts val="600"/>
              </a:spcBef>
              <a:spcAft>
                <a:spcPts val="200"/>
              </a:spcAft>
              <a:defRPr sz="1400" b="1">
                <a:solidFill>
                  <a:srgbClr val="0068B5"/>
                </a:solidFill>
              </a:defRPr>
            </a:pPr>
            <a:r>
              <a:t>Q:  How long does a ticket take, and what does it cost?</a:t>
            </a:r>
          </a:p>
          <a:p>
            <a:pPr>
              <a:spcAft>
                <a:spcPts val="600"/>
              </a:spcAft>
              <a:defRPr sz="1300">
                <a:solidFill>
                  <a:srgbClr val="445566"/>
                </a:solidFill>
              </a:defRPr>
            </a:pPr>
            <a:r>
              <a:t>A:  Seconds to a couple of minutes per ticket versus hours by hand. It uses only open-source Python libraries and runs on your existing machine — no new licensing.</a:t>
            </a:r>
          </a:p>
          <a:p>
            <a:pPr>
              <a:spcBef>
                <a:spcPts val="600"/>
              </a:spcBef>
              <a:spcAft>
                <a:spcPts val="200"/>
              </a:spcAft>
              <a:defRPr sz="1400" b="1">
                <a:solidFill>
                  <a:srgbClr val="0068B5"/>
                </a:solidFill>
              </a:defRPr>
            </a:pPr>
            <a:r>
              <a:t>Q:  Which platforms and domains are covered?</a:t>
            </a:r>
          </a:p>
          <a:p>
            <a:pPr>
              <a:spcAft>
                <a:spcPts val="600"/>
              </a:spcAft>
              <a:defRPr sz="1300">
                <a:solidFill>
                  <a:srgbClr val="445566"/>
                </a:solidFill>
              </a:defRPr>
            </a:pPr>
            <a:r>
              <a:t>A:  Server platforms today (GNR / SRF / CWF) across RAS/MCA, UPI, memory, PCIe/CXL, power, BIOS/IFWI/BMC, OS/driver; DMR / COR are ready to add.</a:t>
            </a:r>
          </a:p>
          <a:p>
            <a:pPr>
              <a:spcBef>
                <a:spcPts val="600"/>
              </a:spcBef>
              <a:spcAft>
                <a:spcPts val="200"/>
              </a:spcAft>
              <a:defRPr sz="1400" b="1">
                <a:solidFill>
                  <a:srgbClr val="0068B5"/>
                </a:solidFill>
              </a:defRPr>
            </a:pPr>
            <a:r>
              <a:t>Q:  How does the 'learning' work?</a:t>
            </a:r>
          </a:p>
          <a:p>
            <a:pPr>
              <a:spcAft>
                <a:spcPts val="600"/>
              </a:spcAft>
              <a:defRPr sz="1300">
                <a:solidFill>
                  <a:srgbClr val="445566"/>
                </a:solidFill>
              </a:defRPr>
            </a:pPr>
            <a:r>
              <a:t>A:  Every analysed ticket is written into a local self-learning Knowledge Base, so recall of similar issues and their fixes improves over time.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2743200"/>
            <a:ext cx="10698480" cy="1463040"/>
          </a:xfrm>
          <a:prstGeom prst="rect">
            <a:avLst/>
          </a:prstGeom>
          <a:noFill/>
        </p:spPr>
        <p:txBody>
          <a:bodyPr wrap="none">
            <a:spAutoFit/>
          </a:bodyPr>
          <a:lstStyle/>
          <a:p>
            <a:pPr>
              <a:defRPr sz="4400" b="1">
                <a:solidFill>
                  <a:srgbClr val="FFFFFF"/>
                </a:solidFill>
              </a:defRPr>
            </a:pPr>
            <a:r>
              <a:t>Thank you</a:t>
            </a:r>
          </a:p>
          <a:p>
            <a:pPr>
              <a:defRPr sz="2000">
                <a:solidFill>
                  <a:srgbClr val="9FC3E8"/>
                </a:solidFill>
              </a:defRPr>
            </a:pPr>
            <a:r>
              <a:t>Questions &amp; discussion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82</TotalTime>
  <Words>1452</Words>
  <Application>Microsoft Office PowerPoint</Application>
  <PresentationFormat>Widescreen</PresentationFormat>
  <Paragraphs>107</Paragraphs>
  <Slides>14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Rajaram, Balaji</cp:lastModifiedBy>
  <cp:revision>1</cp:revision>
  <dcterms:created xsi:type="dcterms:W3CDTF">2013-01-27T09:14:16Z</dcterms:created>
  <dcterms:modified xsi:type="dcterms:W3CDTF">2026-08-26T06:39:05Z</dcterms:modified>
  <cp:category/>
</cp:coreProperties>
</file>